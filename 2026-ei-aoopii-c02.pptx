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7099300" cy="102346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536E951-BD4D-456F-B35B-0E33A9D397D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Num" idx="37"/>
          </p:nvPr>
        </p:nvSpPr>
        <p:spPr>
          <a:xfrm>
            <a:off x="4021200" y="9721080"/>
            <a:ext cx="3074040" cy="50940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4AEDB2-6715-4C46-88D6-C8BFE6D1E1E7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440" cy="383400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200" cy="460332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Num" idx="38"/>
          </p:nvPr>
        </p:nvSpPr>
        <p:spPr>
          <a:xfrm>
            <a:off x="4021200" y="9721080"/>
            <a:ext cx="3074040" cy="50940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D9B3A7-DF56-42D2-9176-E55F06294140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440" cy="383400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200" cy="460332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4040" cy="50940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0DCB10-AC78-410E-8A5C-2D79326285ED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440" cy="383400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200" cy="460332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Num" idx="40"/>
          </p:nvPr>
        </p:nvSpPr>
        <p:spPr>
          <a:xfrm>
            <a:off x="4021200" y="9721080"/>
            <a:ext cx="3074400" cy="509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A083E9-0BC6-4E73-85E8-806A86F94FDD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800" cy="383436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560" cy="460368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Num" idx="41"/>
          </p:nvPr>
        </p:nvSpPr>
        <p:spPr>
          <a:xfrm>
            <a:off x="4021200" y="9721080"/>
            <a:ext cx="3074040" cy="50940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E40B23-A533-4AC0-88AD-D8FAEA70A22E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440" cy="383400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200" cy="460332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Num" idx="42"/>
          </p:nvPr>
        </p:nvSpPr>
        <p:spPr>
          <a:xfrm>
            <a:off x="4021200" y="9721080"/>
            <a:ext cx="3074040" cy="50940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B6EE0A-C205-49B3-B72F-9043486B3249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440" cy="38340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200" cy="460332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Num" idx="43"/>
          </p:nvPr>
        </p:nvSpPr>
        <p:spPr>
          <a:xfrm>
            <a:off x="4021200" y="9721080"/>
            <a:ext cx="3074040" cy="50940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18FCE6-60D4-4B46-AB39-6D609F800CB1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440" cy="383400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200" cy="460332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Num" idx="44"/>
          </p:nvPr>
        </p:nvSpPr>
        <p:spPr>
          <a:xfrm>
            <a:off x="4021200" y="9721080"/>
            <a:ext cx="3074040" cy="50940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F2E521-878C-4241-ACEA-825B10FAE627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440" cy="383400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200" cy="460332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Num" idx="45"/>
          </p:nvPr>
        </p:nvSpPr>
        <p:spPr>
          <a:xfrm>
            <a:off x="4021200" y="9721080"/>
            <a:ext cx="3074040" cy="50940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B14680-ECDF-4365-BE07-76EB395ECDFA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440" cy="383400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200" cy="460332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Num" idx="46"/>
          </p:nvPr>
        </p:nvSpPr>
        <p:spPr>
          <a:xfrm>
            <a:off x="4021200" y="9721080"/>
            <a:ext cx="3074040" cy="50940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E0D498-4C5A-438E-B265-F98E1782A61D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sldImg"/>
          </p:nvPr>
        </p:nvSpPr>
        <p:spPr>
          <a:xfrm>
            <a:off x="992160" y="768240"/>
            <a:ext cx="5113440" cy="383400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7200" cy="460332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ó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estilo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 título do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1910F7-DDBE-40E5-9FC6-A56D2C29B0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000" cy="115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48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000" cy="46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B01E98-0462-4044-8250-1C5C769B66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240" cy="5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</a:t>
            </a:r>
            <a:r>
              <a:rPr lang="pt-PT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título do Modelo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24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FFB44F-6297-40AB-87F6-1014FDEDE8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o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240" cy="146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2C72DE-C6EA-436D-B445-B09840A230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4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estilo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 título do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Modelo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36F60D-184F-4D75-8E49-1BEB3E7C61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e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240" cy="58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í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760" cy="58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D1F37B-301C-4834-ACAD-73DAA187DF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objec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FB4D50-A99C-4D45-A77C-E50C080DC3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c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240" cy="136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240" cy="149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pt-PT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6652BF-0F4D-4E97-9E6F-2D5B028EBC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Conteúdo Dup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320" cy="45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320" cy="45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E2732C-7618-489D-B8F1-A83EC91114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27A7F0-33C4-407A-8E41-E7426A4A32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120" cy="63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pt-PT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120" cy="394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560" cy="63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pt-PT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560" cy="394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04BDAC-475D-44C2-9F06-C653A39761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m 4"/>
          <p:cNvPicPr/>
          <p:nvPr/>
        </p:nvPicPr>
        <p:blipFill>
          <a:blip r:embed="rId1"/>
          <a:stretch/>
        </p:blipFill>
        <p:spPr>
          <a:xfrm>
            <a:off x="-21600" y="0"/>
            <a:ext cx="998028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905120" y="2793240"/>
            <a:ext cx="5484600" cy="5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2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LICENCIATURA </a:t>
            </a:r>
            <a:r>
              <a:rPr lang="pt-PT" sz="2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EM </a:t>
            </a:r>
            <a:r>
              <a:rPr lang="pt-PT" sz="2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ENGENHARIA </a:t>
            </a:r>
            <a:r>
              <a:rPr lang="pt-PT" sz="2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INFORMÁTICA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2000160" y="3365280"/>
            <a:ext cx="5484600" cy="14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 algn="ctr" defTabSz="914400">
              <a:lnSpc>
                <a:spcPct val="17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pt-PT" sz="3200" b="1" u="none" strike="noStrik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Discord </a:t>
            </a:r>
            <a:r>
              <a:rPr lang="pt-PT" sz="3200" b="1" u="none" strike="noStrik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Anthropolo</a:t>
            </a:r>
            <a:r>
              <a:rPr lang="pt-PT" sz="3200" b="1" u="none" strike="noStrik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gist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ubtítulo 6"/>
          <p:cNvSpPr/>
          <p:nvPr/>
        </p:nvSpPr>
        <p:spPr>
          <a:xfrm>
            <a:off x="762120" y="6394320"/>
            <a:ext cx="818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9999"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1100" b="1" u="sng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Licenciatura em Engenharia Informática</a:t>
            </a:r>
            <a:r>
              <a:rPr lang="pt-PT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| Escola Superior de Tecnologia e Gestão| Unidade Curricular: Op2-AO / SSD | Ano Letivo 2025/2026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m 2"/>
          <p:cNvPicPr/>
          <p:nvPr/>
        </p:nvPicPr>
        <p:blipFill>
          <a:blip r:embed="rId2"/>
          <a:stretch/>
        </p:blipFill>
        <p:spPr>
          <a:xfrm>
            <a:off x="2793960" y="392760"/>
            <a:ext cx="3871080" cy="96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ubtítulo 7"/>
          <p:cNvSpPr/>
          <p:nvPr/>
        </p:nvSpPr>
        <p:spPr>
          <a:xfrm>
            <a:off x="4953600" y="5615640"/>
            <a:ext cx="357912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15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Jorge Ribeiro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lang="pt-PT" sz="15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jribeiro@estg.ipvc.pt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ubtítulo 8"/>
          <p:cNvSpPr/>
          <p:nvPr/>
        </p:nvSpPr>
        <p:spPr>
          <a:xfrm>
            <a:off x="1483200" y="5635800"/>
            <a:ext cx="348444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105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31415 – Gonçalo Marques - marquesgoncalo@ipvc.pt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105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31394 – Filipe Fernandes - f.ricardo.fernandes@ipvc.pt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Box 4"/>
          <p:cNvSpPr/>
          <p:nvPr/>
        </p:nvSpPr>
        <p:spPr>
          <a:xfrm>
            <a:off x="306360" y="557280"/>
            <a:ext cx="69796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Índice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Line 2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Box 5"/>
          <p:cNvSpPr/>
          <p:nvPr/>
        </p:nvSpPr>
        <p:spPr>
          <a:xfrm>
            <a:off x="260280" y="44280"/>
            <a:ext cx="697968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m 5"/>
          <p:cNvPicPr/>
          <p:nvPr/>
        </p:nvPicPr>
        <p:blipFill>
          <a:blip r:embed="rId1"/>
          <a:stretch/>
        </p:blipFill>
        <p:spPr>
          <a:xfrm>
            <a:off x="101160" y="904320"/>
            <a:ext cx="9011880" cy="26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ângulo 2"/>
          <p:cNvSpPr/>
          <p:nvPr/>
        </p:nvSpPr>
        <p:spPr>
          <a:xfrm>
            <a:off x="5535720" y="610200"/>
            <a:ext cx="35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m 7"/>
          <p:cNvPicPr/>
          <p:nvPr/>
        </p:nvPicPr>
        <p:blipFill>
          <a:blip r:embed="rId2"/>
          <a:stretch/>
        </p:blipFill>
        <p:spPr>
          <a:xfrm>
            <a:off x="6404040" y="81000"/>
            <a:ext cx="268740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Box 6"/>
          <p:cNvSpPr/>
          <p:nvPr/>
        </p:nvSpPr>
        <p:spPr>
          <a:xfrm>
            <a:off x="406080" y="1203120"/>
            <a:ext cx="8507160" cy="46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Objetivos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Sneak Peek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Homelab deploy com Docker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Arquitetura da Solução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Pipeline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Reconstruir a conversa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Atualização da Lore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Funcionalidades Implementadas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Whisper → Speechmatics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Conclusão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Bibliografia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Box 7"/>
          <p:cNvSpPr/>
          <p:nvPr/>
        </p:nvSpPr>
        <p:spPr>
          <a:xfrm>
            <a:off x="8288280" y="6296040"/>
            <a:ext cx="824760" cy="364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8327520" y="6496200"/>
            <a:ext cx="934560" cy="258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PT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9E35491D-42BC-4511-AD13-27ED13D9BA52}" type="slidenum">
              <a:rPr lang="pt-PT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r>
              <a:rPr lang="pt-PT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m 8"/>
          <p:cNvPicPr/>
          <p:nvPr/>
        </p:nvPicPr>
        <p:blipFill>
          <a:blip r:embed="rId3"/>
          <a:stretch/>
        </p:blipFill>
        <p:spPr>
          <a:xfrm>
            <a:off x="0" y="6320160"/>
            <a:ext cx="914184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Subtítulo 3"/>
          <p:cNvSpPr/>
          <p:nvPr/>
        </p:nvSpPr>
        <p:spPr>
          <a:xfrm>
            <a:off x="835920" y="6524640"/>
            <a:ext cx="7696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m 9"/>
          <p:cNvPicPr/>
          <p:nvPr/>
        </p:nvPicPr>
        <p:blipFill>
          <a:blip r:embed="rId4"/>
          <a:stretch/>
        </p:blipFill>
        <p:spPr>
          <a:xfrm>
            <a:off x="237960" y="6488280"/>
            <a:ext cx="543960" cy="1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CaixaDeTexto 3"/>
          <p:cNvSpPr/>
          <p:nvPr/>
        </p:nvSpPr>
        <p:spPr>
          <a:xfrm>
            <a:off x="7200720" y="781920"/>
            <a:ext cx="5859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Box 14"/>
          <p:cNvSpPr/>
          <p:nvPr/>
        </p:nvSpPr>
        <p:spPr>
          <a:xfrm>
            <a:off x="306360" y="557280"/>
            <a:ext cx="69796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Objetivos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Line 4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Box 15"/>
          <p:cNvSpPr/>
          <p:nvPr/>
        </p:nvSpPr>
        <p:spPr>
          <a:xfrm>
            <a:off x="260280" y="44280"/>
            <a:ext cx="697968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m 14"/>
          <p:cNvPicPr/>
          <p:nvPr/>
        </p:nvPicPr>
        <p:blipFill>
          <a:blip r:embed="rId1"/>
          <a:stretch/>
        </p:blipFill>
        <p:spPr>
          <a:xfrm>
            <a:off x="101160" y="904320"/>
            <a:ext cx="9011880" cy="26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ctângulo 4"/>
          <p:cNvSpPr/>
          <p:nvPr/>
        </p:nvSpPr>
        <p:spPr>
          <a:xfrm>
            <a:off x="5535720" y="610200"/>
            <a:ext cx="35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m 15"/>
          <p:cNvPicPr/>
          <p:nvPr/>
        </p:nvPicPr>
        <p:blipFill>
          <a:blip r:embed="rId2"/>
          <a:stretch/>
        </p:blipFill>
        <p:spPr>
          <a:xfrm>
            <a:off x="6404040" y="81000"/>
            <a:ext cx="268740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Box 16"/>
          <p:cNvSpPr/>
          <p:nvPr/>
        </p:nvSpPr>
        <p:spPr>
          <a:xfrm>
            <a:off x="8288280" y="6296040"/>
            <a:ext cx="824760" cy="364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7"/>
          <p:cNvPicPr/>
          <p:nvPr/>
        </p:nvPicPr>
        <p:blipFill>
          <a:blip r:embed="rId3"/>
          <a:stretch/>
        </p:blipFill>
        <p:spPr>
          <a:xfrm>
            <a:off x="0" y="6320160"/>
            <a:ext cx="914184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ubtítulo 5"/>
          <p:cNvSpPr/>
          <p:nvPr/>
        </p:nvSpPr>
        <p:spPr>
          <a:xfrm>
            <a:off x="835920" y="6524640"/>
            <a:ext cx="7696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m 18"/>
          <p:cNvPicPr/>
          <p:nvPr/>
        </p:nvPicPr>
        <p:blipFill>
          <a:blip r:embed="rId4"/>
          <a:stretch/>
        </p:blipFill>
        <p:spPr>
          <a:xfrm>
            <a:off x="237960" y="6488280"/>
            <a:ext cx="543960" cy="1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Box 17"/>
          <p:cNvSpPr/>
          <p:nvPr/>
        </p:nvSpPr>
        <p:spPr>
          <a:xfrm>
            <a:off x="406080" y="1203120"/>
            <a:ext cx="8507160" cy="20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Desenvolver um bot Discord capaz de capturar voz e texto durante uma sessão.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Guardar áudio por participante e associar cada stream ao respetivo utilizador.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Transcrever conversas com Whisper/Speechmatics e reconstruir a timeline por timestamp.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Gerar um resumo automático da chamada e atualizar a lore/memória dos participantes.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Disponibilizar comandos de consulta, controlo e configuração da solução.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aixaDeTexto 1"/>
          <p:cNvSpPr/>
          <p:nvPr/>
        </p:nvSpPr>
        <p:spPr>
          <a:xfrm>
            <a:off x="7201080" y="782280"/>
            <a:ext cx="5859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Box 13"/>
          <p:cNvSpPr/>
          <p:nvPr/>
        </p:nvSpPr>
        <p:spPr>
          <a:xfrm>
            <a:off x="306360" y="557280"/>
            <a:ext cx="6979680" cy="397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Homelab deploy com Docker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 Box 21"/>
          <p:cNvSpPr/>
          <p:nvPr/>
        </p:nvSpPr>
        <p:spPr>
          <a:xfrm>
            <a:off x="260280" y="44280"/>
            <a:ext cx="697968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1880" cy="26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Rectângulo 19"/>
          <p:cNvSpPr/>
          <p:nvPr/>
        </p:nvSpPr>
        <p:spPr>
          <a:xfrm>
            <a:off x="5535720" y="610200"/>
            <a:ext cx="3503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40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Box 10"/>
          <p:cNvSpPr/>
          <p:nvPr/>
        </p:nvSpPr>
        <p:spPr>
          <a:xfrm>
            <a:off x="8288280" y="6296040"/>
            <a:ext cx="824760" cy="364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184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Subtítulo 2"/>
          <p:cNvSpPr/>
          <p:nvPr/>
        </p:nvSpPr>
        <p:spPr>
          <a:xfrm>
            <a:off x="835920" y="6524640"/>
            <a:ext cx="7696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3960" cy="1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Shape 2"/>
          <p:cNvSpPr/>
          <p:nvPr/>
        </p:nvSpPr>
        <p:spPr>
          <a:xfrm>
            <a:off x="661320" y="1733400"/>
            <a:ext cx="3827520" cy="78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661320" y="1733400"/>
            <a:ext cx="381960" cy="78156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661320" y="1733400"/>
            <a:ext cx="38196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1129320" y="177624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Infraestrutura própria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1129320" y="213336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pt-PT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Executado num servidor local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4830480" y="1733400"/>
            <a:ext cx="3827520" cy="78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8"/>
          <p:cNvSpPr/>
          <p:nvPr/>
        </p:nvSpPr>
        <p:spPr>
          <a:xfrm>
            <a:off x="4830480" y="1733400"/>
            <a:ext cx="381960" cy="78156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4830480" y="1733400"/>
            <a:ext cx="38196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5298480" y="177624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Docker Compose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5298480" y="213336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Inicia e conecta toda a stack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661320" y="2652480"/>
            <a:ext cx="3827520" cy="78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3"/>
          <p:cNvSpPr/>
          <p:nvPr/>
        </p:nvSpPr>
        <p:spPr>
          <a:xfrm>
            <a:off x="661320" y="2652480"/>
            <a:ext cx="381960" cy="78156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661320" y="2652480"/>
            <a:ext cx="38196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1129320" y="269496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Serviços isolados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1129320" y="305244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pt-PT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Bot, FastAPI e PostgreSQL executam em contentores independentes.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7"/>
          <p:cNvSpPr/>
          <p:nvPr/>
        </p:nvSpPr>
        <p:spPr>
          <a:xfrm>
            <a:off x="4830480" y="2652480"/>
            <a:ext cx="3827520" cy="78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8"/>
          <p:cNvSpPr/>
          <p:nvPr/>
        </p:nvSpPr>
        <p:spPr>
          <a:xfrm>
            <a:off x="4830480" y="2652480"/>
            <a:ext cx="381960" cy="78156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4830480" y="2652480"/>
            <a:ext cx="38196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5298480" y="269496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Rede interna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5298480" y="305244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pt-PT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Os serviços comunicam entre si através da rede privada do Docker.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2"/>
          <p:cNvSpPr/>
          <p:nvPr/>
        </p:nvSpPr>
        <p:spPr>
          <a:xfrm>
            <a:off x="661320" y="3571200"/>
            <a:ext cx="3827520" cy="78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3"/>
          <p:cNvSpPr/>
          <p:nvPr/>
        </p:nvSpPr>
        <p:spPr>
          <a:xfrm>
            <a:off x="661320" y="3571200"/>
            <a:ext cx="381960" cy="78156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661320" y="3571200"/>
            <a:ext cx="38196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1129320" y="361368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Persistência de dados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6"/>
          <p:cNvSpPr/>
          <p:nvPr/>
        </p:nvSpPr>
        <p:spPr>
          <a:xfrm>
            <a:off x="1129320" y="397116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pt-PT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Volumes preservam a base de dados, perfis e estado entre reinícios.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7"/>
          <p:cNvSpPr/>
          <p:nvPr/>
        </p:nvSpPr>
        <p:spPr>
          <a:xfrm>
            <a:off x="4830480" y="3571200"/>
            <a:ext cx="3827520" cy="78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8"/>
          <p:cNvSpPr/>
          <p:nvPr/>
        </p:nvSpPr>
        <p:spPr>
          <a:xfrm>
            <a:off x="4830480" y="3571200"/>
            <a:ext cx="381960" cy="78156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9"/>
          <p:cNvSpPr/>
          <p:nvPr/>
        </p:nvSpPr>
        <p:spPr>
          <a:xfrm>
            <a:off x="4830480" y="3571200"/>
            <a:ext cx="38196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0"/>
          <p:cNvSpPr/>
          <p:nvPr/>
        </p:nvSpPr>
        <p:spPr>
          <a:xfrm>
            <a:off x="5298480" y="361368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Áudio partilhado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1"/>
          <p:cNvSpPr/>
          <p:nvPr/>
        </p:nvSpPr>
        <p:spPr>
          <a:xfrm>
            <a:off x="5298480" y="397116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Bot e API partilham volume que armazena os ficheiros WAV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2"/>
          <p:cNvSpPr/>
          <p:nvPr/>
        </p:nvSpPr>
        <p:spPr>
          <a:xfrm>
            <a:off x="661320" y="4490280"/>
            <a:ext cx="3827520" cy="78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3"/>
          <p:cNvSpPr/>
          <p:nvPr/>
        </p:nvSpPr>
        <p:spPr>
          <a:xfrm>
            <a:off x="661320" y="4490280"/>
            <a:ext cx="381960" cy="78156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4"/>
          <p:cNvSpPr/>
          <p:nvPr/>
        </p:nvSpPr>
        <p:spPr>
          <a:xfrm>
            <a:off x="661320" y="4490280"/>
            <a:ext cx="38196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5"/>
          <p:cNvSpPr/>
          <p:nvPr/>
        </p:nvSpPr>
        <p:spPr>
          <a:xfrm>
            <a:off x="1129320" y="453276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Transcriber local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6"/>
          <p:cNvSpPr/>
          <p:nvPr/>
        </p:nvSpPr>
        <p:spPr>
          <a:xfrm>
            <a:off x="1129320" y="489024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Whisper com opção CPU/GPU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7"/>
          <p:cNvSpPr/>
          <p:nvPr/>
        </p:nvSpPr>
        <p:spPr>
          <a:xfrm>
            <a:off x="4830480" y="4490280"/>
            <a:ext cx="3827520" cy="78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8"/>
          <p:cNvSpPr/>
          <p:nvPr/>
        </p:nvSpPr>
        <p:spPr>
          <a:xfrm>
            <a:off x="4830480" y="4490280"/>
            <a:ext cx="381960" cy="78156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9"/>
          <p:cNvSpPr/>
          <p:nvPr/>
        </p:nvSpPr>
        <p:spPr>
          <a:xfrm>
            <a:off x="4830480" y="4490280"/>
            <a:ext cx="38196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0"/>
          <p:cNvSpPr/>
          <p:nvPr/>
        </p:nvSpPr>
        <p:spPr>
          <a:xfrm>
            <a:off x="5298480" y="453276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Trebuchet MS"/>
                <a:ea typeface="Trebuchet MS"/>
              </a:rPr>
              <a:t>Transcriber Cloud opcional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1"/>
          <p:cNvSpPr/>
          <p:nvPr/>
        </p:nvSpPr>
        <p:spPr>
          <a:xfrm>
            <a:off x="5298480" y="4890240"/>
            <a:ext cx="32745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pt-PT" sz="105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Speechmatics e fornecedores LLM externos são configuráveis.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aixaDeTexto 7"/>
          <p:cNvSpPr/>
          <p:nvPr/>
        </p:nvSpPr>
        <p:spPr>
          <a:xfrm>
            <a:off x="7201080" y="782280"/>
            <a:ext cx="5859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Box 3"/>
          <p:cNvSpPr/>
          <p:nvPr/>
        </p:nvSpPr>
        <p:spPr>
          <a:xfrm>
            <a:off x="306360" y="557280"/>
            <a:ext cx="6980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Arquitetura da Solução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Line 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Box 18"/>
          <p:cNvSpPr/>
          <p:nvPr/>
        </p:nvSpPr>
        <p:spPr>
          <a:xfrm>
            <a:off x="260280" y="44280"/>
            <a:ext cx="6980040" cy="303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m 23"/>
          <p:cNvPicPr/>
          <p:nvPr/>
        </p:nvPicPr>
        <p:blipFill>
          <a:blip r:embed="rId1"/>
          <a:stretch/>
        </p:blipFill>
        <p:spPr>
          <a:xfrm>
            <a:off x="101160" y="904320"/>
            <a:ext cx="901224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Rectângulo 5"/>
          <p:cNvSpPr/>
          <p:nvPr/>
        </p:nvSpPr>
        <p:spPr>
          <a:xfrm>
            <a:off x="5535720" y="610200"/>
            <a:ext cx="3503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m 24"/>
          <p:cNvPicPr/>
          <p:nvPr/>
        </p:nvPicPr>
        <p:blipFill>
          <a:blip r:embed="rId2"/>
          <a:stretch/>
        </p:blipFill>
        <p:spPr>
          <a:xfrm>
            <a:off x="6404040" y="81000"/>
            <a:ext cx="268776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Box 19"/>
          <p:cNvSpPr/>
          <p:nvPr/>
        </p:nvSpPr>
        <p:spPr>
          <a:xfrm>
            <a:off x="8288280" y="6296040"/>
            <a:ext cx="825120" cy="36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6" name="Imagem 25"/>
          <p:cNvPicPr/>
          <p:nvPr/>
        </p:nvPicPr>
        <p:blipFill>
          <a:blip r:embed="rId3"/>
          <a:stretch/>
        </p:blipFill>
        <p:spPr>
          <a:xfrm>
            <a:off x="0" y="6320160"/>
            <a:ext cx="914220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Subtítulo 9"/>
          <p:cNvSpPr/>
          <p:nvPr/>
        </p:nvSpPr>
        <p:spPr>
          <a:xfrm>
            <a:off x="835920" y="6524640"/>
            <a:ext cx="76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m 26"/>
          <p:cNvPicPr/>
          <p:nvPr/>
        </p:nvPicPr>
        <p:blipFill>
          <a:blip r:embed="rId4"/>
          <a:stretch/>
        </p:blipFill>
        <p:spPr>
          <a:xfrm>
            <a:off x="237960" y="6488280"/>
            <a:ext cx="544320" cy="1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Shape 21"/>
          <p:cNvSpPr/>
          <p:nvPr/>
        </p:nvSpPr>
        <p:spPr>
          <a:xfrm>
            <a:off x="576360" y="2462400"/>
            <a:ext cx="1317960" cy="807480"/>
          </a:xfrm>
          <a:prstGeom prst="rect">
            <a:avLst/>
          </a:prstGeom>
          <a:solidFill>
            <a:srgbClr val="7289da">
              <a:alpha val="25000"/>
            </a:srgbClr>
          </a:solidFill>
          <a:ln w="254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576360" y="2462400"/>
            <a:ext cx="131796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Discord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9"/>
          <p:cNvSpPr/>
          <p:nvPr/>
        </p:nvSpPr>
        <p:spPr>
          <a:xfrm>
            <a:off x="2150280" y="2462400"/>
            <a:ext cx="1317960" cy="807480"/>
          </a:xfrm>
          <a:prstGeom prst="rect">
            <a:avLst/>
          </a:prstGeom>
          <a:solidFill>
            <a:srgbClr val="7289da">
              <a:alpha val="25000"/>
            </a:srgbClr>
          </a:solidFill>
          <a:ln w="254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2"/>
          <p:cNvSpPr/>
          <p:nvPr/>
        </p:nvSpPr>
        <p:spPr>
          <a:xfrm>
            <a:off x="2150280" y="2462400"/>
            <a:ext cx="131796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Bot Discord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4"/>
          <p:cNvSpPr/>
          <p:nvPr/>
        </p:nvSpPr>
        <p:spPr>
          <a:xfrm>
            <a:off x="3724200" y="1441440"/>
            <a:ext cx="1317960" cy="807480"/>
          </a:xfrm>
          <a:prstGeom prst="rect">
            <a:avLst/>
          </a:prstGeom>
          <a:solidFill>
            <a:srgbClr val="00b0d7">
              <a:alpha val="25000"/>
            </a:srgbClr>
          </a:solidFill>
          <a:ln w="254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3"/>
          <p:cNvSpPr/>
          <p:nvPr/>
        </p:nvSpPr>
        <p:spPr>
          <a:xfrm>
            <a:off x="3724200" y="1441440"/>
            <a:ext cx="131796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Volume WAV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(partilhado)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46"/>
          <p:cNvSpPr/>
          <p:nvPr/>
        </p:nvSpPr>
        <p:spPr>
          <a:xfrm>
            <a:off x="3724200" y="2462400"/>
            <a:ext cx="1317960" cy="807480"/>
          </a:xfrm>
          <a:prstGeom prst="rect">
            <a:avLst/>
          </a:prstGeom>
          <a:solidFill>
            <a:srgbClr val="00b0d7">
              <a:alpha val="25000"/>
            </a:srgbClr>
          </a:solidFill>
          <a:ln w="254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8"/>
          <p:cNvSpPr/>
          <p:nvPr/>
        </p:nvSpPr>
        <p:spPr>
          <a:xfrm>
            <a:off x="3724200" y="2462400"/>
            <a:ext cx="131796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Backend API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7"/>
          <p:cNvSpPr/>
          <p:nvPr/>
        </p:nvSpPr>
        <p:spPr>
          <a:xfrm>
            <a:off x="3724200" y="3483720"/>
            <a:ext cx="1317960" cy="807480"/>
          </a:xfrm>
          <a:prstGeom prst="rect">
            <a:avLst/>
          </a:prstGeom>
          <a:solidFill>
            <a:srgbClr val="43b581">
              <a:alpha val="25000"/>
            </a:srgbClr>
          </a:solidFill>
          <a:ln w="254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3"/>
          <p:cNvSpPr/>
          <p:nvPr/>
        </p:nvSpPr>
        <p:spPr>
          <a:xfrm>
            <a:off x="3724200" y="3483720"/>
            <a:ext cx="131796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Whisper 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Speechmatics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8"/>
          <p:cNvSpPr/>
          <p:nvPr/>
        </p:nvSpPr>
        <p:spPr>
          <a:xfrm>
            <a:off x="5298480" y="2462400"/>
            <a:ext cx="1317960" cy="807480"/>
          </a:xfrm>
          <a:prstGeom prst="rect">
            <a:avLst/>
          </a:prstGeom>
          <a:solidFill>
            <a:srgbClr val="43b581">
              <a:alpha val="25000"/>
            </a:srgbClr>
          </a:solidFill>
          <a:ln w="254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8"/>
          <p:cNvSpPr/>
          <p:nvPr/>
        </p:nvSpPr>
        <p:spPr>
          <a:xfrm>
            <a:off x="5298480" y="2462400"/>
            <a:ext cx="131796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9"/>
          <p:cNvSpPr/>
          <p:nvPr/>
        </p:nvSpPr>
        <p:spPr>
          <a:xfrm>
            <a:off x="6872400" y="1441440"/>
            <a:ext cx="1317960" cy="807480"/>
          </a:xfrm>
          <a:prstGeom prst="rect">
            <a:avLst/>
          </a:prstGeom>
          <a:solidFill>
            <a:srgbClr val="faa61a">
              <a:alpha val="25000"/>
            </a:srgbClr>
          </a:solidFill>
          <a:ln w="254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3"/>
          <p:cNvSpPr/>
          <p:nvPr/>
        </p:nvSpPr>
        <p:spPr>
          <a:xfrm>
            <a:off x="6872400" y="1441440"/>
            <a:ext cx="131796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Session Agent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(Internal Service)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0"/>
          <p:cNvSpPr/>
          <p:nvPr/>
        </p:nvSpPr>
        <p:spPr>
          <a:xfrm>
            <a:off x="6872400" y="3483720"/>
            <a:ext cx="1317960" cy="807480"/>
          </a:xfrm>
          <a:prstGeom prst="rect">
            <a:avLst/>
          </a:prstGeom>
          <a:solidFill>
            <a:srgbClr val="faa61a">
              <a:alpha val="25000"/>
            </a:srgbClr>
          </a:solidFill>
          <a:ln w="254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7"/>
          <p:cNvSpPr/>
          <p:nvPr/>
        </p:nvSpPr>
        <p:spPr>
          <a:xfrm>
            <a:off x="6872400" y="3483720"/>
            <a:ext cx="131796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LLM Provider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(Cloud/Local)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51"/>
          <p:cNvSpPr/>
          <p:nvPr/>
        </p:nvSpPr>
        <p:spPr>
          <a:xfrm>
            <a:off x="4379400" y="3270600"/>
            <a:ext cx="360" cy="21276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Shape 52"/>
          <p:cNvSpPr/>
          <p:nvPr/>
        </p:nvSpPr>
        <p:spPr>
          <a:xfrm>
            <a:off x="661320" y="4844880"/>
            <a:ext cx="186480" cy="186480"/>
          </a:xfrm>
          <a:prstGeom prst="rect">
            <a:avLst/>
          </a:prstGeom>
          <a:solidFill>
            <a:srgbClr val="7289da"/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8"/>
          <p:cNvSpPr/>
          <p:nvPr/>
        </p:nvSpPr>
        <p:spPr>
          <a:xfrm>
            <a:off x="899640" y="4819320"/>
            <a:ext cx="178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Discord / Interface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3"/>
          <p:cNvSpPr/>
          <p:nvPr/>
        </p:nvSpPr>
        <p:spPr>
          <a:xfrm>
            <a:off x="2703240" y="4844880"/>
            <a:ext cx="186480" cy="186480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9"/>
          <p:cNvSpPr/>
          <p:nvPr/>
        </p:nvSpPr>
        <p:spPr>
          <a:xfrm>
            <a:off x="2941560" y="4819320"/>
            <a:ext cx="178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Captura &amp; Coordenação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54"/>
          <p:cNvSpPr/>
          <p:nvPr/>
        </p:nvSpPr>
        <p:spPr>
          <a:xfrm>
            <a:off x="4745160" y="4844880"/>
            <a:ext cx="186480" cy="186480"/>
          </a:xfrm>
          <a:prstGeom prst="rect">
            <a:avLst/>
          </a:prstGeom>
          <a:solidFill>
            <a:srgbClr val="43b581"/>
          </a:solidFill>
          <a:ln w="127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0"/>
          <p:cNvSpPr/>
          <p:nvPr/>
        </p:nvSpPr>
        <p:spPr>
          <a:xfrm>
            <a:off x="4983480" y="4819320"/>
            <a:ext cx="178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Transcrição &amp; Persistência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55"/>
          <p:cNvSpPr/>
          <p:nvPr/>
        </p:nvSpPr>
        <p:spPr>
          <a:xfrm>
            <a:off x="6787440" y="4844880"/>
            <a:ext cx="186480" cy="186480"/>
          </a:xfrm>
          <a:prstGeom prst="rect">
            <a:avLst/>
          </a:prstGeom>
          <a:solidFill>
            <a:srgbClr val="faa61a"/>
          </a:solidFill>
          <a:ln w="127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1"/>
          <p:cNvSpPr/>
          <p:nvPr/>
        </p:nvSpPr>
        <p:spPr>
          <a:xfrm>
            <a:off x="7025400" y="4819320"/>
            <a:ext cx="178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Agentes &amp; Memória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56"/>
          <p:cNvSpPr/>
          <p:nvPr/>
        </p:nvSpPr>
        <p:spPr>
          <a:xfrm>
            <a:off x="1894680" y="2869560"/>
            <a:ext cx="255240" cy="36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Shape 57"/>
          <p:cNvSpPr/>
          <p:nvPr/>
        </p:nvSpPr>
        <p:spPr>
          <a:xfrm>
            <a:off x="3468960" y="2869560"/>
            <a:ext cx="255240" cy="36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Shape 58"/>
          <p:cNvSpPr/>
          <p:nvPr/>
        </p:nvSpPr>
        <p:spPr>
          <a:xfrm flipV="1">
            <a:off x="2916000" y="1848600"/>
            <a:ext cx="808200" cy="613800"/>
          </a:xfrm>
          <a:prstGeom prst="line">
            <a:avLst/>
          </a:prstGeom>
          <a:ln w="19050">
            <a:solidFill>
              <a:srgbClr val="9bbb5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Shape 59"/>
          <p:cNvSpPr/>
          <p:nvPr/>
        </p:nvSpPr>
        <p:spPr>
          <a:xfrm>
            <a:off x="4379400" y="2268000"/>
            <a:ext cx="360" cy="194400"/>
          </a:xfrm>
          <a:prstGeom prst="line">
            <a:avLst/>
          </a:prstGeom>
          <a:ln w="19050">
            <a:solidFill>
              <a:srgbClr val="9bbb5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Shape 60"/>
          <p:cNvSpPr/>
          <p:nvPr/>
        </p:nvSpPr>
        <p:spPr>
          <a:xfrm>
            <a:off x="5042880" y="2869560"/>
            <a:ext cx="255240" cy="36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Shape 61"/>
          <p:cNvSpPr/>
          <p:nvPr/>
        </p:nvSpPr>
        <p:spPr>
          <a:xfrm flipV="1">
            <a:off x="5042880" y="1854720"/>
            <a:ext cx="1820880" cy="613800"/>
          </a:xfrm>
          <a:prstGeom prst="line">
            <a:avLst/>
          </a:prstGeom>
          <a:ln w="19050">
            <a:solidFill>
              <a:srgbClr val="9bbb5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Shape 62"/>
          <p:cNvSpPr/>
          <p:nvPr/>
        </p:nvSpPr>
        <p:spPr>
          <a:xfrm flipV="1">
            <a:off x="6616800" y="2249640"/>
            <a:ext cx="619920" cy="61992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Shape 63"/>
          <p:cNvSpPr/>
          <p:nvPr/>
        </p:nvSpPr>
        <p:spPr>
          <a:xfrm flipV="1">
            <a:off x="7527240" y="2268000"/>
            <a:ext cx="360" cy="1215360"/>
          </a:xfrm>
          <a:prstGeom prst="line">
            <a:avLst/>
          </a:prstGeom>
          <a:ln w="19050">
            <a:solidFill>
              <a:srgbClr val="9bbb59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"/>
          <p:cNvSpPr/>
          <p:nvPr/>
        </p:nvSpPr>
        <p:spPr>
          <a:xfrm>
            <a:off x="116640" y="5353200"/>
            <a:ext cx="90630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solução usa o Discord como interface principal. O bot recolhe mensagens e áudio, envia tudo para uma API FastAPI, que transcreve o áudio em texto, organiza a informação, guarda em PostgreSQL e usa IA para gerar resumos das conversas, perfis sobre cada utilizador e respostas a certos comandos.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CaixaDeTexto 6"/>
          <p:cNvSpPr/>
          <p:nvPr/>
        </p:nvSpPr>
        <p:spPr>
          <a:xfrm>
            <a:off x="7200720" y="782280"/>
            <a:ext cx="5859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CaixaDeTexto 8"/>
          <p:cNvSpPr/>
          <p:nvPr/>
        </p:nvSpPr>
        <p:spPr>
          <a:xfrm>
            <a:off x="7201080" y="782280"/>
            <a:ext cx="5859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Box 13"/>
          <p:cNvSpPr/>
          <p:nvPr/>
        </p:nvSpPr>
        <p:spPr>
          <a:xfrm>
            <a:off x="306360" y="557280"/>
            <a:ext cx="69796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Pipeline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 Box 21"/>
          <p:cNvSpPr/>
          <p:nvPr/>
        </p:nvSpPr>
        <p:spPr>
          <a:xfrm>
            <a:off x="260280" y="44280"/>
            <a:ext cx="697968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1880" cy="26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Rectângulo 19"/>
          <p:cNvSpPr/>
          <p:nvPr/>
        </p:nvSpPr>
        <p:spPr>
          <a:xfrm>
            <a:off x="5535720" y="610200"/>
            <a:ext cx="3503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40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Box 10"/>
          <p:cNvSpPr/>
          <p:nvPr/>
        </p:nvSpPr>
        <p:spPr>
          <a:xfrm>
            <a:off x="8288280" y="6296040"/>
            <a:ext cx="824760" cy="364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2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184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Subtítulo 2"/>
          <p:cNvSpPr/>
          <p:nvPr/>
        </p:nvSpPr>
        <p:spPr>
          <a:xfrm>
            <a:off x="835920" y="6524640"/>
            <a:ext cx="7696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3960" cy="1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27"/>
          <p:cNvSpPr/>
          <p:nvPr/>
        </p:nvSpPr>
        <p:spPr>
          <a:xfrm>
            <a:off x="685800" y="3657600"/>
            <a:ext cx="8001000" cy="22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Audio inicial do discord codificado em Opus (audio comprimido), transformado em PCM e por ultimo em WAV para a transcrição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O SSRC , Synchronization Source Identifier, associa cada stream de áudio ao Discord ID correto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 Cada participante é gravado num WAV separado com recording_started_at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 A API aceita o pedido e transcreve em background, sem bloquear o bot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 O agente só arranca após a sessão terminar e todas as gravações concluírem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▸  O bot publica o resumo quando o Agent Workflow termina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CaixaDeTexto 9"/>
          <p:cNvSpPr/>
          <p:nvPr/>
        </p:nvSpPr>
        <p:spPr>
          <a:xfrm>
            <a:off x="7201080" y="782280"/>
            <a:ext cx="5859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"/>
          <p:cNvPicPr/>
          <p:nvPr/>
        </p:nvPicPr>
        <p:blipFill>
          <a:blip r:embed="rId5"/>
          <a:stretch/>
        </p:blipFill>
        <p:spPr>
          <a:xfrm>
            <a:off x="457200" y="1816200"/>
            <a:ext cx="8415360" cy="156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Box 13"/>
          <p:cNvSpPr/>
          <p:nvPr/>
        </p:nvSpPr>
        <p:spPr>
          <a:xfrm>
            <a:off x="306360" y="557280"/>
            <a:ext cx="69796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Reconstruir a conversa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 Box 21"/>
          <p:cNvSpPr/>
          <p:nvPr/>
        </p:nvSpPr>
        <p:spPr>
          <a:xfrm>
            <a:off x="260280" y="44280"/>
            <a:ext cx="697968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1880" cy="26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Rectângulo 19"/>
          <p:cNvSpPr/>
          <p:nvPr/>
        </p:nvSpPr>
        <p:spPr>
          <a:xfrm>
            <a:off x="5535720" y="610200"/>
            <a:ext cx="3503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40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Box 10"/>
          <p:cNvSpPr/>
          <p:nvPr/>
        </p:nvSpPr>
        <p:spPr>
          <a:xfrm>
            <a:off x="8288280" y="6296040"/>
            <a:ext cx="824760" cy="364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5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184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Subtítulo 2"/>
          <p:cNvSpPr/>
          <p:nvPr/>
        </p:nvSpPr>
        <p:spPr>
          <a:xfrm>
            <a:off x="835920" y="6524640"/>
            <a:ext cx="7696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3960" cy="1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CaixaDeTexto 10"/>
          <p:cNvSpPr/>
          <p:nvPr/>
        </p:nvSpPr>
        <p:spPr>
          <a:xfrm>
            <a:off x="7201080" y="782280"/>
            <a:ext cx="5859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272160" y="2754000"/>
            <a:ext cx="9244440" cy="341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SSRC → Discord ID — Identidade do orador: Cada stream é associado ao participante correto.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recording_started_at — Início absoluto: Cada WAV preserva a hora real em que começou.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segment.start — Tempo relativo: O STT indica onde cada segmento começa no ficheiro.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Timestamp absoluto — Fórmula: recording_started_at + segment.start.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UTC — Normalização: Todos os participantes usam a mesma referência temporal.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session_id — Contexto da chamada: Cada segmento fica ligado à sessão que o originou.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Ordenação — Conversa comum: Mensagens intercaladas por timestamp e ID.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Chunks de 30 min — Contexto por canal: Só as janelas temporais afetadas são reconstruídas.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Transcript — Resumo da sessão: Usa mensagens da session_id, não os chunks.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38320" y="1345320"/>
            <a:ext cx="9049680" cy="162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Uma vez que as conversas são guardadas em ficheiros .wav individuais por utilizador após a conversão de Speech to Text é preciso juntar o conteúdo criando uma conversa entre pessoas invés de texto desconexo.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Box 13"/>
          <p:cNvSpPr/>
          <p:nvPr/>
        </p:nvSpPr>
        <p:spPr>
          <a:xfrm>
            <a:off x="306360" y="557280"/>
            <a:ext cx="69796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Funcionalidades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 Box 21"/>
          <p:cNvSpPr/>
          <p:nvPr/>
        </p:nvSpPr>
        <p:spPr>
          <a:xfrm>
            <a:off x="260280" y="44280"/>
            <a:ext cx="697968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1880" cy="26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Rectângulo 19"/>
          <p:cNvSpPr/>
          <p:nvPr/>
        </p:nvSpPr>
        <p:spPr>
          <a:xfrm>
            <a:off x="5535720" y="610200"/>
            <a:ext cx="3503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40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Box 10"/>
          <p:cNvSpPr/>
          <p:nvPr/>
        </p:nvSpPr>
        <p:spPr>
          <a:xfrm>
            <a:off x="8288280" y="6296040"/>
            <a:ext cx="824760" cy="364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8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184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Subtítulo 2"/>
          <p:cNvSpPr/>
          <p:nvPr/>
        </p:nvSpPr>
        <p:spPr>
          <a:xfrm>
            <a:off x="835920" y="6524640"/>
            <a:ext cx="7696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3960" cy="1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CaixaDeTexto 12"/>
          <p:cNvSpPr/>
          <p:nvPr/>
        </p:nvSpPr>
        <p:spPr>
          <a:xfrm>
            <a:off x="7201080" y="782280"/>
            <a:ext cx="5859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2" name=""/>
          <p:cNvGraphicFramePr/>
          <p:nvPr/>
        </p:nvGraphicFramePr>
        <p:xfrm>
          <a:off x="1127520" y="1235880"/>
          <a:ext cx="7005240" cy="4924440"/>
        </p:xfrm>
        <a:graphic>
          <a:graphicData uri="http://schemas.openxmlformats.org/drawingml/2006/table">
            <a:tbl>
              <a:tblPr/>
              <a:tblGrid>
                <a:gridCol w="1584360"/>
                <a:gridCol w="5420880"/>
              </a:tblGrid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/ping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Verifica se o Bot está online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/start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Reativa o Bot e faz com que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ele entre num chamada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/stop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pausa o bot, sai de todas as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chamadas e impede novas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entradas.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/profile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mostra um perfil gerado de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um utilizador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/prompt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faz uma pergunta sobre a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lore/perfil de um utilizador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específico.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/sync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força a sincronização dos perfis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/models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lista os modelos LLM disponíveis e permite escolher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/health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mostra o estado do Bot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/keys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mostra o uso das chaves da API Speechmatics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/forget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apaga mensagens, perfil e lore guardada de um utilizador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/timeout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define quantos minutos o bot fica na call antes de sair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/recap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mostra o resumo da sessão de voz mais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recente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/oracle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pergunta ao “antropólogo” sobre a história,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decisões ou contexto geral do servidor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/guess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inicia um mini-jogo para adivinhar quem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disse uma frase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/language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muda a língua das respostas do bot entre português e inglês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Box 13"/>
          <p:cNvSpPr/>
          <p:nvPr/>
        </p:nvSpPr>
        <p:spPr>
          <a:xfrm>
            <a:off x="306360" y="557280"/>
            <a:ext cx="69796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Whisper → Speechmatics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 Box 21"/>
          <p:cNvSpPr/>
          <p:nvPr/>
        </p:nvSpPr>
        <p:spPr>
          <a:xfrm>
            <a:off x="260280" y="44280"/>
            <a:ext cx="697968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1880" cy="26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Rectângulo 19"/>
          <p:cNvSpPr/>
          <p:nvPr/>
        </p:nvSpPr>
        <p:spPr>
          <a:xfrm>
            <a:off x="5535720" y="610200"/>
            <a:ext cx="3503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40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 Box 10"/>
          <p:cNvSpPr/>
          <p:nvPr/>
        </p:nvSpPr>
        <p:spPr>
          <a:xfrm>
            <a:off x="8288280" y="6296040"/>
            <a:ext cx="824760" cy="364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0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184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Subtítulo 2"/>
          <p:cNvSpPr/>
          <p:nvPr/>
        </p:nvSpPr>
        <p:spPr>
          <a:xfrm>
            <a:off x="835920" y="6524640"/>
            <a:ext cx="7696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3960" cy="1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Shape 2"/>
          <p:cNvSpPr/>
          <p:nvPr/>
        </p:nvSpPr>
        <p:spPr>
          <a:xfrm>
            <a:off x="661320" y="1648440"/>
            <a:ext cx="3742560" cy="407160"/>
          </a:xfrm>
          <a:prstGeom prst="rect">
            <a:avLst/>
          </a:prstGeom>
          <a:solidFill>
            <a:srgbClr val="7289da">
              <a:alpha val="40000"/>
            </a:srgbClr>
          </a:solidFill>
          <a:ln w="12700">
            <a:solidFill>
              <a:srgbClr val="7289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661320" y="1648440"/>
            <a:ext cx="37425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</a:rPr>
              <a:t>Whisper — abordagem inicial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"/>
          <p:cNvSpPr/>
          <p:nvPr/>
        </p:nvSpPr>
        <p:spPr>
          <a:xfrm>
            <a:off x="4915440" y="1648440"/>
            <a:ext cx="3742560" cy="407160"/>
          </a:xfrm>
          <a:prstGeom prst="rect">
            <a:avLst/>
          </a:prstGeom>
          <a:solidFill>
            <a:srgbClr val="43b581">
              <a:alpha val="40000"/>
            </a:srgbClr>
          </a:solidFill>
          <a:ln w="12700">
            <a:solidFill>
              <a:srgbClr val="43b5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4915440" y="1648440"/>
            <a:ext cx="374256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</a:rPr>
              <a:t>Speechmatics — evolução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661320" y="2167560"/>
            <a:ext cx="3742560" cy="3733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789120" y="216756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  Execução local no homelab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8"/>
          <p:cNvSpPr/>
          <p:nvPr/>
        </p:nvSpPr>
        <p:spPr>
          <a:xfrm>
            <a:off x="4915440" y="2167560"/>
            <a:ext cx="3742560" cy="3733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5043240" y="216756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Processamento através da Batch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0"/>
          <p:cNvSpPr/>
          <p:nvPr/>
        </p:nvSpPr>
        <p:spPr>
          <a:xfrm>
            <a:off x="4404600" y="235440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1"/>
          <p:cNvSpPr/>
          <p:nvPr/>
        </p:nvSpPr>
        <p:spPr>
          <a:xfrm>
            <a:off x="661320" y="2567160"/>
            <a:ext cx="3742560" cy="37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789120" y="256716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  Modelo large-v3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3"/>
          <p:cNvSpPr/>
          <p:nvPr/>
        </p:nvSpPr>
        <p:spPr>
          <a:xfrm>
            <a:off x="4915440" y="2567160"/>
            <a:ext cx="3742560" cy="37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5043240" y="256716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Melia 1 multilingue PT / 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5"/>
          <p:cNvSpPr/>
          <p:nvPr/>
        </p:nvSpPr>
        <p:spPr>
          <a:xfrm>
            <a:off x="4404600" y="275436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6"/>
          <p:cNvSpPr/>
          <p:nvPr/>
        </p:nvSpPr>
        <p:spPr>
          <a:xfrm>
            <a:off x="661320" y="2967120"/>
            <a:ext cx="3742560" cy="3733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7"/>
          <p:cNvSpPr/>
          <p:nvPr/>
        </p:nvSpPr>
        <p:spPr>
          <a:xfrm>
            <a:off x="789120" y="296712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✗  Carga elevada em CPU / GPU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8"/>
          <p:cNvSpPr/>
          <p:nvPr/>
        </p:nvSpPr>
        <p:spPr>
          <a:xfrm>
            <a:off x="4915440" y="2967120"/>
            <a:ext cx="3742560" cy="3733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9"/>
          <p:cNvSpPr/>
          <p:nvPr/>
        </p:nvSpPr>
        <p:spPr>
          <a:xfrm>
            <a:off x="5043240" y="296712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Menor carga computacional local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0"/>
          <p:cNvSpPr/>
          <p:nvPr/>
        </p:nvSpPr>
        <p:spPr>
          <a:xfrm>
            <a:off x="4404600" y="315432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6"/>
          <p:cNvSpPr/>
          <p:nvPr/>
        </p:nvSpPr>
        <p:spPr>
          <a:xfrm>
            <a:off x="661320" y="3374280"/>
            <a:ext cx="3742560" cy="3733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7"/>
          <p:cNvSpPr/>
          <p:nvPr/>
        </p:nvSpPr>
        <p:spPr>
          <a:xfrm>
            <a:off x="789120" y="337428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✗  Alucinações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8"/>
          <p:cNvSpPr/>
          <p:nvPr/>
        </p:nvSpPr>
        <p:spPr>
          <a:xfrm>
            <a:off x="4915440" y="3374280"/>
            <a:ext cx="3742560" cy="3733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9"/>
          <p:cNvSpPr/>
          <p:nvPr/>
        </p:nvSpPr>
        <p:spPr>
          <a:xfrm>
            <a:off x="5043240" y="337428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Melhor interpretação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0"/>
          <p:cNvSpPr/>
          <p:nvPr/>
        </p:nvSpPr>
        <p:spPr>
          <a:xfrm>
            <a:off x="4404600" y="356148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1"/>
          <p:cNvSpPr/>
          <p:nvPr/>
        </p:nvSpPr>
        <p:spPr>
          <a:xfrm>
            <a:off x="661320" y="3774240"/>
            <a:ext cx="3742560" cy="37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2"/>
          <p:cNvSpPr/>
          <p:nvPr/>
        </p:nvSpPr>
        <p:spPr>
          <a:xfrm>
            <a:off x="789120" y="377424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✗  Dificuldade em perceber mudança de idioma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33"/>
          <p:cNvSpPr/>
          <p:nvPr/>
        </p:nvSpPr>
        <p:spPr>
          <a:xfrm>
            <a:off x="4915440" y="3774240"/>
            <a:ext cx="3742560" cy="37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4"/>
          <p:cNvSpPr/>
          <p:nvPr/>
        </p:nvSpPr>
        <p:spPr>
          <a:xfrm>
            <a:off x="5043240" y="377424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Alternância natural entre idiomas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35"/>
          <p:cNvSpPr/>
          <p:nvPr/>
        </p:nvSpPr>
        <p:spPr>
          <a:xfrm>
            <a:off x="4404600" y="396144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6"/>
          <p:cNvSpPr/>
          <p:nvPr/>
        </p:nvSpPr>
        <p:spPr>
          <a:xfrm>
            <a:off x="661320" y="4174200"/>
            <a:ext cx="3742560" cy="3733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7"/>
          <p:cNvSpPr/>
          <p:nvPr/>
        </p:nvSpPr>
        <p:spPr>
          <a:xfrm>
            <a:off x="789120" y="417420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  Sem custo por minuto de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8"/>
          <p:cNvSpPr/>
          <p:nvPr/>
        </p:nvSpPr>
        <p:spPr>
          <a:xfrm>
            <a:off x="4915440" y="4174200"/>
            <a:ext cx="3742560" cy="37332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9"/>
          <p:cNvSpPr/>
          <p:nvPr/>
        </p:nvSpPr>
        <p:spPr>
          <a:xfrm>
            <a:off x="5043240" y="417420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Multi-key rotation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0"/>
          <p:cNvSpPr/>
          <p:nvPr/>
        </p:nvSpPr>
        <p:spPr>
          <a:xfrm>
            <a:off x="4404600" y="436104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41"/>
          <p:cNvSpPr/>
          <p:nvPr/>
        </p:nvSpPr>
        <p:spPr>
          <a:xfrm>
            <a:off x="661320" y="4574160"/>
            <a:ext cx="3742560" cy="37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42"/>
          <p:cNvSpPr/>
          <p:nvPr/>
        </p:nvSpPr>
        <p:spPr>
          <a:xfrm>
            <a:off x="789120" y="457416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  Mantido como alternativa local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43"/>
          <p:cNvSpPr/>
          <p:nvPr/>
        </p:nvSpPr>
        <p:spPr>
          <a:xfrm>
            <a:off x="4915440" y="4574160"/>
            <a:ext cx="3742560" cy="37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1f2937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44"/>
          <p:cNvSpPr/>
          <p:nvPr/>
        </p:nvSpPr>
        <p:spPr>
          <a:xfrm>
            <a:off x="5043240" y="4574160"/>
            <a:ext cx="34873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3b581"/>
                </a:solidFill>
                <a:effectLst/>
                <a:uFillTx/>
                <a:latin typeface="Calibri"/>
                <a:ea typeface="Calibri"/>
              </a:rPr>
              <a:t>✓  Adicionado sem alterar o Discord Bot (Provider no .env)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5"/>
          <p:cNvSpPr/>
          <p:nvPr/>
        </p:nvSpPr>
        <p:spPr>
          <a:xfrm>
            <a:off x="4404600" y="4761000"/>
            <a:ext cx="510840" cy="360"/>
          </a:xfrm>
          <a:prstGeom prst="line">
            <a:avLst/>
          </a:prstGeom>
          <a:ln w="12700">
            <a:solidFill>
              <a:srgbClr val="4f545c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CaixaDeTexto 13"/>
          <p:cNvSpPr/>
          <p:nvPr/>
        </p:nvSpPr>
        <p:spPr>
          <a:xfrm>
            <a:off x="7201080" y="782280"/>
            <a:ext cx="5859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Box 13"/>
          <p:cNvSpPr/>
          <p:nvPr/>
        </p:nvSpPr>
        <p:spPr>
          <a:xfrm>
            <a:off x="306360" y="557280"/>
            <a:ext cx="6979680" cy="397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Conclusão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 Box 21"/>
          <p:cNvSpPr/>
          <p:nvPr/>
        </p:nvSpPr>
        <p:spPr>
          <a:xfrm>
            <a:off x="260280" y="44280"/>
            <a:ext cx="697968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m 6"/>
          <p:cNvPicPr/>
          <p:nvPr/>
        </p:nvPicPr>
        <p:blipFill>
          <a:blip r:embed="rId1"/>
          <a:stretch/>
        </p:blipFill>
        <p:spPr>
          <a:xfrm>
            <a:off x="101160" y="904320"/>
            <a:ext cx="9011880" cy="26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Rectângulo 19"/>
          <p:cNvSpPr/>
          <p:nvPr/>
        </p:nvSpPr>
        <p:spPr>
          <a:xfrm>
            <a:off x="5535720" y="610200"/>
            <a:ext cx="3503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" name="Imagem 19"/>
          <p:cNvPicPr/>
          <p:nvPr/>
        </p:nvPicPr>
        <p:blipFill>
          <a:blip r:embed="rId2"/>
          <a:stretch/>
        </p:blipFill>
        <p:spPr>
          <a:xfrm>
            <a:off x="6404040" y="81000"/>
            <a:ext cx="268740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Box 10"/>
          <p:cNvSpPr/>
          <p:nvPr/>
        </p:nvSpPr>
        <p:spPr>
          <a:xfrm>
            <a:off x="8288280" y="6296040"/>
            <a:ext cx="824760" cy="364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90" name="Imagem 16"/>
          <p:cNvPicPr/>
          <p:nvPr/>
        </p:nvPicPr>
        <p:blipFill>
          <a:blip r:embed="rId3"/>
          <a:stretch/>
        </p:blipFill>
        <p:spPr>
          <a:xfrm>
            <a:off x="0" y="6320160"/>
            <a:ext cx="914184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Subtítulo 2"/>
          <p:cNvSpPr/>
          <p:nvPr/>
        </p:nvSpPr>
        <p:spPr>
          <a:xfrm>
            <a:off x="835920" y="6524640"/>
            <a:ext cx="7696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m 20"/>
          <p:cNvPicPr/>
          <p:nvPr/>
        </p:nvPicPr>
        <p:blipFill>
          <a:blip r:embed="rId4"/>
          <a:stretch/>
        </p:blipFill>
        <p:spPr>
          <a:xfrm>
            <a:off x="237960" y="6488280"/>
            <a:ext cx="543960" cy="1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CaixaDeTexto 14"/>
          <p:cNvSpPr/>
          <p:nvPr/>
        </p:nvSpPr>
        <p:spPr>
          <a:xfrm>
            <a:off x="7201080" y="782280"/>
            <a:ext cx="5859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133920" y="1298880"/>
            <a:ext cx="9271800" cy="340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nosso agente permite que o bot se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junte a conversas, capture voz em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chamadas e recolha texto através do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scraping de mensagens nos diferentes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canais do Discord. As conversas são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gravadas e convertidas para texto e,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 base nessa informação, são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criados perfis para cada utilizador, bem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como resumos no final de cada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chamada.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além do core da aplicação,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também é possível utilizar modelos de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speech-to-text cloud-based ou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modelos locais através do Ollama. O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sistema conta ainda com comandos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como /prompt, para fazer perguntas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específicas sobre cada utilizador, e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/oracle, para perguntas mais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generalistas sobre acontecimentos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gerais do servidor.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desenvolvimento foi um sucesso e o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produto continuará a ser utilizado em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servidores pessoais por ambos os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membros da equipa.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Box 8"/>
          <p:cNvSpPr/>
          <p:nvPr/>
        </p:nvSpPr>
        <p:spPr>
          <a:xfrm>
            <a:off x="306360" y="557280"/>
            <a:ext cx="69796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■  Bibliografia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Line 3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 Box 9"/>
          <p:cNvSpPr/>
          <p:nvPr/>
        </p:nvSpPr>
        <p:spPr>
          <a:xfrm>
            <a:off x="260280" y="44280"/>
            <a:ext cx="697968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400" b="1" u="none" strike="noStrik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m 10"/>
          <p:cNvPicPr/>
          <p:nvPr/>
        </p:nvPicPr>
        <p:blipFill>
          <a:blip r:embed="rId1"/>
          <a:stretch/>
        </p:blipFill>
        <p:spPr>
          <a:xfrm>
            <a:off x="101160" y="904320"/>
            <a:ext cx="9011880" cy="26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Rectângulo 3"/>
          <p:cNvSpPr/>
          <p:nvPr/>
        </p:nvSpPr>
        <p:spPr>
          <a:xfrm>
            <a:off x="5535720" y="610200"/>
            <a:ext cx="3503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ENGENHARIA INFORMÁTICA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Imagem 11"/>
          <p:cNvPicPr/>
          <p:nvPr/>
        </p:nvPicPr>
        <p:blipFill>
          <a:blip r:embed="rId2"/>
          <a:stretch/>
        </p:blipFill>
        <p:spPr>
          <a:xfrm>
            <a:off x="6404040" y="81000"/>
            <a:ext cx="268740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 Box 11"/>
          <p:cNvSpPr/>
          <p:nvPr/>
        </p:nvSpPr>
        <p:spPr>
          <a:xfrm>
            <a:off x="8288280" y="6296040"/>
            <a:ext cx="824760" cy="364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02" name="Imagem 12"/>
          <p:cNvPicPr/>
          <p:nvPr/>
        </p:nvPicPr>
        <p:blipFill>
          <a:blip r:embed="rId3"/>
          <a:stretch/>
        </p:blipFill>
        <p:spPr>
          <a:xfrm>
            <a:off x="0" y="6320160"/>
            <a:ext cx="914184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Subtítulo 4"/>
          <p:cNvSpPr/>
          <p:nvPr/>
        </p:nvSpPr>
        <p:spPr>
          <a:xfrm>
            <a:off x="835920" y="6524640"/>
            <a:ext cx="7696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PT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@2026, 31415 – Gonçalo Marques; 31394 – Filipe Fernandes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m 13"/>
          <p:cNvPicPr/>
          <p:nvPr/>
        </p:nvPicPr>
        <p:blipFill>
          <a:blip r:embed="rId4"/>
          <a:stretch/>
        </p:blipFill>
        <p:spPr>
          <a:xfrm>
            <a:off x="237960" y="6488280"/>
            <a:ext cx="543960" cy="1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Box 12"/>
          <p:cNvSpPr/>
          <p:nvPr/>
        </p:nvSpPr>
        <p:spPr>
          <a:xfrm>
            <a:off x="406080" y="1203120"/>
            <a:ext cx="8507160" cy="24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Discord Developer Documentation — https://discord.com/developers/docs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Docker Documentation — https://docs.docker.com/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FastAPI Documentation — https://fastapi.tiangolo.com/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PostgreSQL Documentation — https://www.postgresql.org/docs/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OpenAI Whisper — https://github.com/openai/whisper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Speechmatics Documentation — https://docs.speechmatics.com/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CaixaDeTexto 15"/>
          <p:cNvSpPr/>
          <p:nvPr/>
        </p:nvSpPr>
        <p:spPr>
          <a:xfrm>
            <a:off x="7201080" y="782280"/>
            <a:ext cx="5859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PT" sz="1100" b="1" u="none" strike="noStrike">
                <a:solidFill>
                  <a:schemeClr val="dk1"/>
                </a:solidFill>
                <a:effectLst/>
                <a:highlight>
                  <a:srgbClr val="ff00ff"/>
                </a:highlight>
                <a:uFillTx/>
                <a:latin typeface="Arial"/>
                <a:ea typeface="Arial"/>
              </a:rPr>
              <a:t>Discord Anthropologist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Imagem 21"/>
          <p:cNvPicPr/>
          <p:nvPr/>
        </p:nvPicPr>
        <p:blipFill>
          <a:blip r:embed="rId1"/>
          <a:stretch/>
        </p:blipFill>
        <p:spPr>
          <a:xfrm>
            <a:off x="0" y="0"/>
            <a:ext cx="914220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PlaceHolder 1"/>
          <p:cNvSpPr>
            <a:spLocks noGrp="1"/>
          </p:cNvSpPr>
          <p:nvPr>
            <p:ph type="subTitle"/>
          </p:nvPr>
        </p:nvSpPr>
        <p:spPr>
          <a:xfrm>
            <a:off x="2000160" y="5867280"/>
            <a:ext cx="5141880" cy="48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ctr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lang="pt-PT" sz="15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www.ipvc.pt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9" name="Imagem 22"/>
          <p:cNvPicPr/>
          <p:nvPr/>
        </p:nvPicPr>
        <p:blipFill>
          <a:blip r:embed="rId2"/>
          <a:stretch/>
        </p:blipFill>
        <p:spPr>
          <a:xfrm>
            <a:off x="2547720" y="3409920"/>
            <a:ext cx="4047120" cy="100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4401</TotalTime>
  <Application>LibreOffice/25.8.7.3$Linux_X86_64 LibreOffice_project/580$Build-3</Application>
  <AppVersion>15.0000</AppVersion>
  <Words>1336</Words>
  <Paragraphs>185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2011-05-31T09:21:51Z</dcterms:created>
  <dc:creator>Jorge Ribeiro</dc:creator>
  <dc:description/>
  <dc:language>en-US</dc:language>
  <cp:lastModifiedBy/>
  <cp:lastPrinted>2021-02-22T18:49:33Z</cp:lastPrinted>
  <dcterms:modified xsi:type="dcterms:W3CDTF">2026-07-09T15:52:42Z</dcterms:modified>
  <cp:revision>280</cp:revision>
  <dc:subject/>
  <dc:title>Diapositivo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Apresentação no Ecrã (4:3)</vt:lpwstr>
  </property>
  <property fmtid="{D5CDD505-2E9C-101B-9397-08002B2CF9AE}" pid="4" name="Slides">
    <vt:i4>25</vt:i4>
  </property>
</Properties>
</file>