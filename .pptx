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099300" cy="102346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CD56EAA-E15D-4338-BF22-3F00035721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Num" idx="37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047213-3936-4858-B184-FF3559D5B81C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Num" idx="38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EB2612-C120-4A94-9DB2-0D4E6F4D299B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E54CDC-725F-4856-8989-4B84202BCC6B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Num" idx="40"/>
          </p:nvPr>
        </p:nvSpPr>
        <p:spPr>
          <a:xfrm>
            <a:off x="4021200" y="9721080"/>
            <a:ext cx="3074760" cy="5101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DABBF8-C6FC-4903-A215-4967FE0F67C5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4160" cy="38347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920" cy="460404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Num" idx="41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C64AAB-D538-42A5-80D4-6D25CC4877E7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Num" idx="42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A9E2B5-4807-4746-ACBA-F88F40FDC0FE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Num" idx="43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C9245B-0BDF-43B5-A1D3-B1BD82DCEEEB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Num" idx="44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69C038-DF73-4995-84FA-C9D947D2D6A1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Num" idx="45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D7732F-6D7C-458B-A734-43A44D8822E9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Num" idx="46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8F0661-EBE7-4679-ACF7-FF41C104FEBF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Num" idx="47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06398A-A21F-4B59-8069-0A5B93011C0B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o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A08AB1-99C4-4EBD-B863-1ABDDA30D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C0D0EA-0289-43CC-B940-3765211D1F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e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í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EF17CF-19F9-44E1-88C3-F746A2943F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objec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7B7477-5263-4B9E-82C7-9C9E400072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c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pt-PT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F0475D-B929-4BF3-B8CD-BD077CC75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Conteúdo Dup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592DF2-FE35-429E-81E4-184A812B86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98A9CA-B579-43D4-BEF7-301F17AEFA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estilo do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 do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B3712A-CE4B-4D4B-80DE-21F0367ABE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ó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AB90CD-98E5-40A2-8187-764DD49B3B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A974F5-8F62-44F0-A1E2-6692104934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406631-8033-4EB4-B5C4-E4A8C1514F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4"/>
          <p:cNvPicPr/>
          <p:nvPr/>
        </p:nvPicPr>
        <p:blipFill>
          <a:blip r:embed="rId1"/>
          <a:stretch/>
        </p:blipFill>
        <p:spPr>
          <a:xfrm>
            <a:off x="-21600" y="0"/>
            <a:ext cx="998064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5120" y="2793240"/>
            <a:ext cx="5484960" cy="55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LICENCIATURA EM ENGENHARIA INFORMÁTICA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2000160" y="3365280"/>
            <a:ext cx="5484960" cy="14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 algn="ctr" defTabSz="914400">
              <a:lnSpc>
                <a:spcPct val="17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pt-PT" sz="3200" b="1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Discord Anthropologist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ubtítulo 6"/>
          <p:cNvSpPr/>
          <p:nvPr/>
        </p:nvSpPr>
        <p:spPr>
          <a:xfrm>
            <a:off x="762120" y="6394320"/>
            <a:ext cx="8190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9999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100" b="1" u="sng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Licenciatura em Engenharia Informática</a:t>
            </a:r>
            <a:r>
              <a:rPr lang="pt-PT" sz="11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| Escola Superior de Tecnologia e Gestão| Unidade Curricular: Op2-AO / SSD | Ano Letivo 2025/2026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m 2"/>
          <p:cNvPicPr/>
          <p:nvPr/>
        </p:nvPicPr>
        <p:blipFill>
          <a:blip r:embed="rId2"/>
          <a:stretch/>
        </p:blipFill>
        <p:spPr>
          <a:xfrm>
            <a:off x="2793960" y="392760"/>
            <a:ext cx="3871440" cy="96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ubtítulo 7"/>
          <p:cNvSpPr/>
          <p:nvPr/>
        </p:nvSpPr>
        <p:spPr>
          <a:xfrm>
            <a:off x="4953600" y="5615640"/>
            <a:ext cx="357948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Jorge Ribeiro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lang="pt-PT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jribeiro@estg.ipvc.pt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ubtítulo 8"/>
          <p:cNvSpPr/>
          <p:nvPr/>
        </p:nvSpPr>
        <p:spPr>
          <a:xfrm>
            <a:off x="1483200" y="5635800"/>
            <a:ext cx="348480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0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31415 – Gonçalo Marques - marquesgoncalo@ipvc.pt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0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31394 – Filipe Fernandes - f.ricardo.fernandes@ipvc.pt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 4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Índice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Line 2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Box 5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m 5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ângulo 2"/>
          <p:cNvSpPr/>
          <p:nvPr/>
        </p:nvSpPr>
        <p:spPr>
          <a:xfrm>
            <a:off x="5535720" y="610200"/>
            <a:ext cx="350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m 7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Box 6"/>
          <p:cNvSpPr/>
          <p:nvPr/>
        </p:nvSpPr>
        <p:spPr>
          <a:xfrm>
            <a:off x="406080" y="1203120"/>
            <a:ext cx="8507520" cy="46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Objetivos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Sneak Peek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Homelab deploy com Docker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Arquitetura da Solução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Pipeline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Reconstruir a conversa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Atualização da Lore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Funcionalidades Implementadas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Whisper → Speechmatics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Conclusão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Bibliografia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Box 7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8327520" y="6496200"/>
            <a:ext cx="934920" cy="2584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4EA4533F-53FA-4B84-B6E0-6521818D865F}" type="slidenum"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r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m 8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Subtítulo 3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m 9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CaixaDeTexto 3"/>
          <p:cNvSpPr/>
          <p:nvPr/>
        </p:nvSpPr>
        <p:spPr>
          <a:xfrm>
            <a:off x="7200720" y="78192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Box 14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Objetivos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Line 4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Box 15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m 14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ângulo 4"/>
          <p:cNvSpPr/>
          <p:nvPr/>
        </p:nvSpPr>
        <p:spPr>
          <a:xfrm>
            <a:off x="5535720" y="610200"/>
            <a:ext cx="350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m 15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Box 16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7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ubtítulo 5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m 18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Box 17"/>
          <p:cNvSpPr/>
          <p:nvPr/>
        </p:nvSpPr>
        <p:spPr>
          <a:xfrm>
            <a:off x="406080" y="1203120"/>
            <a:ext cx="8507520" cy="20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Desenvolver um bot Discord capaz de capturar voz e texto durante uma sessão.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Guardar áudio por participante e associar cada stream ao respetivo utilizador.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Transcrever conversas com Whisper/Speechmatics e reconstruir a timeline por timestamp.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Gerar um resumo automático da chamada e atualizar a lore/memória dos participantes.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Disponibilizar comandos de consulta, controlo e configuração da solução.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ixaDeTexto 1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Box 13"/>
          <p:cNvSpPr/>
          <p:nvPr/>
        </p:nvSpPr>
        <p:spPr>
          <a:xfrm>
            <a:off x="306360" y="557280"/>
            <a:ext cx="6980040" cy="398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Homelab deploy com Docker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Shape 2"/>
          <p:cNvSpPr/>
          <p:nvPr/>
        </p:nvSpPr>
        <p:spPr>
          <a:xfrm>
            <a:off x="661320" y="173340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661320" y="173340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61320" y="173340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129320" y="17762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Infraestrutura própria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1129320" y="21333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Executado num servidor local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4830480" y="173340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4830480" y="173340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4830480" y="173340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5298480" y="17762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Docker Compose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5298480" y="21333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Inicia e conecta toda a stack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661320" y="265248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661320" y="265248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61320" y="265248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1129320" y="26949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Serviços isolados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1129320" y="30524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Bot, FastAPI e PostgreSQL executam em contentores independentes.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4830480" y="265248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4830480" y="265248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830480" y="265248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5298480" y="26949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Rede interna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298480" y="30524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Os serviços comunicam entre si através da rede privada do Docker.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661320" y="357120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661320" y="357120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661320" y="357120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1129320" y="361368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Persistência de dados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1129320" y="39711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Volumes preservam a base de dados, perfis e estado entre reinícios.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4830480" y="357120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8"/>
          <p:cNvSpPr/>
          <p:nvPr/>
        </p:nvSpPr>
        <p:spPr>
          <a:xfrm>
            <a:off x="4830480" y="357120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9"/>
          <p:cNvSpPr/>
          <p:nvPr/>
        </p:nvSpPr>
        <p:spPr>
          <a:xfrm>
            <a:off x="4830480" y="357120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0"/>
          <p:cNvSpPr/>
          <p:nvPr/>
        </p:nvSpPr>
        <p:spPr>
          <a:xfrm>
            <a:off x="5298480" y="361368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Áudio partilhado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1"/>
          <p:cNvSpPr/>
          <p:nvPr/>
        </p:nvSpPr>
        <p:spPr>
          <a:xfrm>
            <a:off x="5298480" y="39711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Bot e API partilham volume que armazena os ficheiros WAV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2"/>
          <p:cNvSpPr/>
          <p:nvPr/>
        </p:nvSpPr>
        <p:spPr>
          <a:xfrm>
            <a:off x="661320" y="449028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3"/>
          <p:cNvSpPr/>
          <p:nvPr/>
        </p:nvSpPr>
        <p:spPr>
          <a:xfrm>
            <a:off x="661320" y="449028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4"/>
          <p:cNvSpPr/>
          <p:nvPr/>
        </p:nvSpPr>
        <p:spPr>
          <a:xfrm>
            <a:off x="661320" y="449028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5"/>
          <p:cNvSpPr/>
          <p:nvPr/>
        </p:nvSpPr>
        <p:spPr>
          <a:xfrm>
            <a:off x="1129320" y="45327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Transcriber local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6"/>
          <p:cNvSpPr/>
          <p:nvPr/>
        </p:nvSpPr>
        <p:spPr>
          <a:xfrm>
            <a:off x="1129320" y="48902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Whisper com opção CPU/GPU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7"/>
          <p:cNvSpPr/>
          <p:nvPr/>
        </p:nvSpPr>
        <p:spPr>
          <a:xfrm>
            <a:off x="4830480" y="4490280"/>
            <a:ext cx="3827880" cy="78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8"/>
          <p:cNvSpPr/>
          <p:nvPr/>
        </p:nvSpPr>
        <p:spPr>
          <a:xfrm>
            <a:off x="4830480" y="4490280"/>
            <a:ext cx="382320" cy="78192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9"/>
          <p:cNvSpPr/>
          <p:nvPr/>
        </p:nvSpPr>
        <p:spPr>
          <a:xfrm>
            <a:off x="4830480" y="4490280"/>
            <a:ext cx="38232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0"/>
          <p:cNvSpPr/>
          <p:nvPr/>
        </p:nvSpPr>
        <p:spPr>
          <a:xfrm>
            <a:off x="5298480" y="453276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Transcriber Cloud opcional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1"/>
          <p:cNvSpPr/>
          <p:nvPr/>
        </p:nvSpPr>
        <p:spPr>
          <a:xfrm>
            <a:off x="5298480" y="4890240"/>
            <a:ext cx="32749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Speechmatics e fornecedores LLM externos são configuráveis.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7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3"/>
          <p:cNvSpPr/>
          <p:nvPr/>
        </p:nvSpPr>
        <p:spPr>
          <a:xfrm>
            <a:off x="306360" y="557280"/>
            <a:ext cx="6980400" cy="395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Arquitetura da Solução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Line 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Box 18"/>
          <p:cNvSpPr/>
          <p:nvPr/>
        </p:nvSpPr>
        <p:spPr>
          <a:xfrm>
            <a:off x="260280" y="44280"/>
            <a:ext cx="6980400" cy="3034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m 23"/>
          <p:cNvPicPr/>
          <p:nvPr/>
        </p:nvPicPr>
        <p:blipFill>
          <a:blip r:embed="rId1"/>
          <a:stretch/>
        </p:blipFill>
        <p:spPr>
          <a:xfrm>
            <a:off x="101160" y="904320"/>
            <a:ext cx="901260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ectângulo 5"/>
          <p:cNvSpPr/>
          <p:nvPr/>
        </p:nvSpPr>
        <p:spPr>
          <a:xfrm>
            <a:off x="5535720" y="610200"/>
            <a:ext cx="3503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m 24"/>
          <p:cNvPicPr/>
          <p:nvPr/>
        </p:nvPicPr>
        <p:blipFill>
          <a:blip r:embed="rId2"/>
          <a:stretch/>
        </p:blipFill>
        <p:spPr>
          <a:xfrm>
            <a:off x="6404040" y="81000"/>
            <a:ext cx="2688120" cy="66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Box 19"/>
          <p:cNvSpPr/>
          <p:nvPr/>
        </p:nvSpPr>
        <p:spPr>
          <a:xfrm>
            <a:off x="8288280" y="6296040"/>
            <a:ext cx="825480" cy="36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Imagem 25"/>
          <p:cNvPicPr/>
          <p:nvPr/>
        </p:nvPicPr>
        <p:blipFill>
          <a:blip r:embed="rId3"/>
          <a:stretch/>
        </p:blipFill>
        <p:spPr>
          <a:xfrm>
            <a:off x="0" y="6320160"/>
            <a:ext cx="9142560" cy="25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ubtítulo 9"/>
          <p:cNvSpPr/>
          <p:nvPr/>
        </p:nvSpPr>
        <p:spPr>
          <a:xfrm>
            <a:off x="835920" y="6524640"/>
            <a:ext cx="76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m 26"/>
          <p:cNvPicPr/>
          <p:nvPr/>
        </p:nvPicPr>
        <p:blipFill>
          <a:blip r:embed="rId4"/>
          <a:stretch/>
        </p:blipFill>
        <p:spPr>
          <a:xfrm>
            <a:off x="237960" y="6488280"/>
            <a:ext cx="544680" cy="19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hape 21"/>
          <p:cNvSpPr/>
          <p:nvPr/>
        </p:nvSpPr>
        <p:spPr>
          <a:xfrm>
            <a:off x="576360" y="2462400"/>
            <a:ext cx="1318320" cy="807840"/>
          </a:xfrm>
          <a:prstGeom prst="rect">
            <a:avLst/>
          </a:prstGeom>
          <a:solidFill>
            <a:srgbClr val="7289da">
              <a:alpha val="25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76360" y="246240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Discord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9"/>
          <p:cNvSpPr/>
          <p:nvPr/>
        </p:nvSpPr>
        <p:spPr>
          <a:xfrm>
            <a:off x="2150280" y="2462400"/>
            <a:ext cx="1318320" cy="807840"/>
          </a:xfrm>
          <a:prstGeom prst="rect">
            <a:avLst/>
          </a:prstGeom>
          <a:solidFill>
            <a:srgbClr val="7289da">
              <a:alpha val="25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2150280" y="246240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Bot Discord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4"/>
          <p:cNvSpPr/>
          <p:nvPr/>
        </p:nvSpPr>
        <p:spPr>
          <a:xfrm>
            <a:off x="3724200" y="1441440"/>
            <a:ext cx="1318320" cy="807840"/>
          </a:xfrm>
          <a:prstGeom prst="rect">
            <a:avLst/>
          </a:prstGeom>
          <a:solidFill>
            <a:srgbClr val="00b0d7">
              <a:alpha val="25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3724200" y="144144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Volume WAV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(partilhado)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6"/>
          <p:cNvSpPr/>
          <p:nvPr/>
        </p:nvSpPr>
        <p:spPr>
          <a:xfrm>
            <a:off x="3724200" y="2462400"/>
            <a:ext cx="1318320" cy="807840"/>
          </a:xfrm>
          <a:prstGeom prst="rect">
            <a:avLst/>
          </a:prstGeom>
          <a:solidFill>
            <a:srgbClr val="00b0d7">
              <a:alpha val="25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8"/>
          <p:cNvSpPr/>
          <p:nvPr/>
        </p:nvSpPr>
        <p:spPr>
          <a:xfrm>
            <a:off x="3724200" y="246240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Backend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3724200" y="3483720"/>
            <a:ext cx="1318320" cy="807840"/>
          </a:xfrm>
          <a:prstGeom prst="rect">
            <a:avLst/>
          </a:prstGeom>
          <a:solidFill>
            <a:srgbClr val="43b581">
              <a:alpha val="25000"/>
            </a:srgbClr>
          </a:solidFill>
          <a:ln w="254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3"/>
          <p:cNvSpPr/>
          <p:nvPr/>
        </p:nvSpPr>
        <p:spPr>
          <a:xfrm>
            <a:off x="3724200" y="348372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Whisper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Speechmatics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8"/>
          <p:cNvSpPr/>
          <p:nvPr/>
        </p:nvSpPr>
        <p:spPr>
          <a:xfrm>
            <a:off x="5298480" y="2462400"/>
            <a:ext cx="1318320" cy="807840"/>
          </a:xfrm>
          <a:prstGeom prst="rect">
            <a:avLst/>
          </a:prstGeom>
          <a:solidFill>
            <a:srgbClr val="43b581">
              <a:alpha val="25000"/>
            </a:srgbClr>
          </a:solidFill>
          <a:ln w="254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8"/>
          <p:cNvSpPr/>
          <p:nvPr/>
        </p:nvSpPr>
        <p:spPr>
          <a:xfrm>
            <a:off x="5298480" y="246240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9"/>
          <p:cNvSpPr/>
          <p:nvPr/>
        </p:nvSpPr>
        <p:spPr>
          <a:xfrm>
            <a:off x="6872400" y="1441440"/>
            <a:ext cx="1318320" cy="807840"/>
          </a:xfrm>
          <a:prstGeom prst="rect">
            <a:avLst/>
          </a:prstGeom>
          <a:solidFill>
            <a:srgbClr val="faa61a">
              <a:alpha val="25000"/>
            </a:srgbClr>
          </a:solidFill>
          <a:ln w="254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3"/>
          <p:cNvSpPr/>
          <p:nvPr/>
        </p:nvSpPr>
        <p:spPr>
          <a:xfrm>
            <a:off x="6872400" y="144144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Session Agent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(Internal Service)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0"/>
          <p:cNvSpPr/>
          <p:nvPr/>
        </p:nvSpPr>
        <p:spPr>
          <a:xfrm>
            <a:off x="6872400" y="3483720"/>
            <a:ext cx="1318320" cy="807840"/>
          </a:xfrm>
          <a:prstGeom prst="rect">
            <a:avLst/>
          </a:prstGeom>
          <a:solidFill>
            <a:srgbClr val="faa61a">
              <a:alpha val="25000"/>
            </a:srgbClr>
          </a:solidFill>
          <a:ln w="254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7"/>
          <p:cNvSpPr/>
          <p:nvPr/>
        </p:nvSpPr>
        <p:spPr>
          <a:xfrm>
            <a:off x="6872400" y="3483720"/>
            <a:ext cx="131832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LLM Provider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(Cloud/Local)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1"/>
          <p:cNvSpPr/>
          <p:nvPr/>
        </p:nvSpPr>
        <p:spPr>
          <a:xfrm>
            <a:off x="4379400" y="3270600"/>
            <a:ext cx="360" cy="2127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Shape 52"/>
          <p:cNvSpPr/>
          <p:nvPr/>
        </p:nvSpPr>
        <p:spPr>
          <a:xfrm>
            <a:off x="661320" y="4844880"/>
            <a:ext cx="186840" cy="18684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8"/>
          <p:cNvSpPr/>
          <p:nvPr/>
        </p:nvSpPr>
        <p:spPr>
          <a:xfrm>
            <a:off x="899640" y="4819320"/>
            <a:ext cx="1786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Discord / Interface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3"/>
          <p:cNvSpPr/>
          <p:nvPr/>
        </p:nvSpPr>
        <p:spPr>
          <a:xfrm>
            <a:off x="2703240" y="4844880"/>
            <a:ext cx="186840" cy="18684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9"/>
          <p:cNvSpPr/>
          <p:nvPr/>
        </p:nvSpPr>
        <p:spPr>
          <a:xfrm>
            <a:off x="2941560" y="4819320"/>
            <a:ext cx="1786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Captura &amp; Coordenação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4"/>
          <p:cNvSpPr/>
          <p:nvPr/>
        </p:nvSpPr>
        <p:spPr>
          <a:xfrm>
            <a:off x="4745160" y="4844880"/>
            <a:ext cx="186840" cy="186840"/>
          </a:xfrm>
          <a:prstGeom prst="rect">
            <a:avLst/>
          </a:prstGeom>
          <a:solidFill>
            <a:srgbClr val="43b581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0"/>
          <p:cNvSpPr/>
          <p:nvPr/>
        </p:nvSpPr>
        <p:spPr>
          <a:xfrm>
            <a:off x="4983480" y="4819320"/>
            <a:ext cx="1786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Transcrição &amp; Persistência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5"/>
          <p:cNvSpPr/>
          <p:nvPr/>
        </p:nvSpPr>
        <p:spPr>
          <a:xfrm>
            <a:off x="6787440" y="4844880"/>
            <a:ext cx="186840" cy="18684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1"/>
          <p:cNvSpPr/>
          <p:nvPr/>
        </p:nvSpPr>
        <p:spPr>
          <a:xfrm>
            <a:off x="7025400" y="4819320"/>
            <a:ext cx="17863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Agentes &amp; Memória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6"/>
          <p:cNvSpPr/>
          <p:nvPr/>
        </p:nvSpPr>
        <p:spPr>
          <a:xfrm>
            <a:off x="189468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Shape 57"/>
          <p:cNvSpPr/>
          <p:nvPr/>
        </p:nvSpPr>
        <p:spPr>
          <a:xfrm>
            <a:off x="346896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Shape 58"/>
          <p:cNvSpPr/>
          <p:nvPr/>
        </p:nvSpPr>
        <p:spPr>
          <a:xfrm flipV="1">
            <a:off x="2916000" y="1848600"/>
            <a:ext cx="808200" cy="6138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Shape 59"/>
          <p:cNvSpPr/>
          <p:nvPr/>
        </p:nvSpPr>
        <p:spPr>
          <a:xfrm>
            <a:off x="4379400" y="2268000"/>
            <a:ext cx="360" cy="1944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60"/>
          <p:cNvSpPr/>
          <p:nvPr/>
        </p:nvSpPr>
        <p:spPr>
          <a:xfrm>
            <a:off x="504288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Shape 61"/>
          <p:cNvSpPr/>
          <p:nvPr/>
        </p:nvSpPr>
        <p:spPr>
          <a:xfrm flipV="1">
            <a:off x="5042880" y="1854720"/>
            <a:ext cx="1820880" cy="6138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62"/>
          <p:cNvSpPr/>
          <p:nvPr/>
        </p:nvSpPr>
        <p:spPr>
          <a:xfrm flipV="1">
            <a:off x="6616800" y="2249640"/>
            <a:ext cx="619920" cy="61992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63"/>
          <p:cNvSpPr/>
          <p:nvPr/>
        </p:nvSpPr>
        <p:spPr>
          <a:xfrm flipV="1">
            <a:off x="7527240" y="2268000"/>
            <a:ext cx="0" cy="1215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6640" y="5353200"/>
            <a:ext cx="906336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solução usa o Discord como interface principal. O bot recolhe mensagens e áudio, envia tudo para uma API FastAPI, que transcreve o áudio em texto, organiza a informação, guarda em PostgreSQL e usa IA para gerar resumos das conversas, perfis sobre cada utilizador e respostas a certos comandos.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aixaDeTexto 6"/>
          <p:cNvSpPr/>
          <p:nvPr/>
        </p:nvSpPr>
        <p:spPr>
          <a:xfrm>
            <a:off x="7200720" y="782280"/>
            <a:ext cx="58600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CaixaDeTexto 8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Box 13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Pipeline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2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Shape 2"/>
          <p:cNvSpPr/>
          <p:nvPr/>
        </p:nvSpPr>
        <p:spPr>
          <a:xfrm>
            <a:off x="874080" y="2056680"/>
            <a:ext cx="892800" cy="935280"/>
          </a:xfrm>
          <a:prstGeom prst="rect">
            <a:avLst/>
          </a:prstGeom>
          <a:solidFill>
            <a:srgbClr val="7289da">
              <a:alpha val="28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87408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Opus 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SSRC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1767240" y="2524680"/>
            <a:ext cx="21276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"/>
          <p:cNvSpPr/>
          <p:nvPr/>
        </p:nvSpPr>
        <p:spPr>
          <a:xfrm>
            <a:off x="1980000" y="2056680"/>
            <a:ext cx="892800" cy="935280"/>
          </a:xfrm>
          <a:prstGeom prst="rect">
            <a:avLst/>
          </a:prstGeom>
          <a:solidFill>
            <a:srgbClr val="7289da">
              <a:alpha val="28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198000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Stream por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utilizador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2873160" y="2524680"/>
            <a:ext cx="21276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3086280" y="2056680"/>
            <a:ext cx="892800" cy="935280"/>
          </a:xfrm>
          <a:prstGeom prst="rect">
            <a:avLst/>
          </a:prstGeom>
          <a:solidFill>
            <a:srgbClr val="00b0d7">
              <a:alpha val="28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308628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WAV + hora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 início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3979440" y="2524680"/>
            <a:ext cx="21276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4192200" y="2056680"/>
            <a:ext cx="892800" cy="935280"/>
          </a:xfrm>
          <a:prstGeom prst="rect">
            <a:avLst/>
          </a:prstGeom>
          <a:solidFill>
            <a:srgbClr val="00b0d7">
              <a:alpha val="28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419220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background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5085360" y="2524680"/>
            <a:ext cx="21276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5298480" y="2056680"/>
            <a:ext cx="892800" cy="935280"/>
          </a:xfrm>
          <a:prstGeom prst="rect">
            <a:avLst/>
          </a:prstGeom>
          <a:solidFill>
            <a:srgbClr val="43b581">
              <a:alpha val="28000"/>
            </a:srgbClr>
          </a:solidFill>
          <a:ln w="254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529848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Whisper /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Speechmatics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6"/>
          <p:cNvSpPr/>
          <p:nvPr/>
        </p:nvSpPr>
        <p:spPr>
          <a:xfrm>
            <a:off x="6191640" y="2524680"/>
            <a:ext cx="21240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6404400" y="2056680"/>
            <a:ext cx="892800" cy="935280"/>
          </a:xfrm>
          <a:prstGeom prst="rect">
            <a:avLst/>
          </a:prstGeom>
          <a:solidFill>
            <a:srgbClr val="faa61a">
              <a:alpha val="28000"/>
            </a:srgbClr>
          </a:solidFill>
          <a:ln w="254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640440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Session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2"/>
          <p:cNvSpPr/>
          <p:nvPr/>
        </p:nvSpPr>
        <p:spPr>
          <a:xfrm>
            <a:off x="7297560" y="2524680"/>
            <a:ext cx="212760" cy="360"/>
          </a:xfrm>
          <a:prstGeom prst="line">
            <a:avLst/>
          </a:prstGeom>
          <a:ln w="1905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3"/>
          <p:cNvSpPr/>
          <p:nvPr/>
        </p:nvSpPr>
        <p:spPr>
          <a:xfrm>
            <a:off x="7510320" y="2056680"/>
            <a:ext cx="892800" cy="935280"/>
          </a:xfrm>
          <a:prstGeom prst="rect">
            <a:avLst/>
          </a:prstGeom>
          <a:solidFill>
            <a:srgbClr val="7289da">
              <a:alpha val="28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7510320" y="2056680"/>
            <a:ext cx="892800" cy="93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Resumo 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7"/>
          <p:cNvSpPr/>
          <p:nvPr/>
        </p:nvSpPr>
        <p:spPr>
          <a:xfrm>
            <a:off x="874080" y="3247920"/>
            <a:ext cx="7486560" cy="17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Audio inicial do discord codificado em Opus (audio comprimido), transformado em PCM e por ultimo em WAV para a transcrição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O SSRC , Synchronization Source Identifier, associa cada stream de áudio ao Discord ID correto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Cada participante é gravado num WAV separado com recording_started_at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A API aceita o pedido e transcreve em background, sem bloquear o bot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O agente só arranca após a sessão terminar e todas as gravações concluírem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O bot publica o resumo quando o Agent Workflow termina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CaixaDeTexto 9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Box 13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Reconstruir a conversa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4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2"/>
          <p:cNvSpPr/>
          <p:nvPr/>
        </p:nvSpPr>
        <p:spPr>
          <a:xfrm>
            <a:off x="644400" y="16995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644400" y="1699560"/>
            <a:ext cx="2594160" cy="4608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746280" y="17845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 SSRC → Discord 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746280" y="21247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b0d7"/>
                </a:solidFill>
                <a:effectLst/>
                <a:uFillTx/>
                <a:latin typeface="Calibri"/>
                <a:ea typeface="Calibri"/>
              </a:rPr>
              <a:t>Identidade do orador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746280" y="23630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Cada stream é associado ao participante correto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3384000" y="16995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3384000" y="1699560"/>
            <a:ext cx="2594160" cy="4608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3486240" y="17845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recording_started_at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3486240" y="21247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7289da"/>
                </a:solidFill>
                <a:effectLst/>
                <a:uFillTx/>
                <a:latin typeface="Calibri"/>
                <a:ea typeface="Calibri"/>
              </a:rPr>
              <a:t>Início absoluto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3486240" y="23630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Cada WAV preserva a hora real em que começou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123600" y="16995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6123600" y="1699560"/>
            <a:ext cx="2594160" cy="46080"/>
          </a:xfrm>
          <a:prstGeom prst="rect">
            <a:avLst/>
          </a:prstGeom>
          <a:solidFill>
            <a:srgbClr val="43b581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6225840" y="17845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segment.start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6225840" y="21247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Tempo relativo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6225840" y="23630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 STT indica onde cada segmento começa no ficheiro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644400" y="299268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644400" y="2992680"/>
            <a:ext cx="2594160" cy="4608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746280" y="307800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Timestamp absoluto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746280" y="341820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aa61a"/>
                </a:solidFill>
                <a:effectLst/>
                <a:uFillTx/>
                <a:latin typeface="Calibri"/>
                <a:ea typeface="Calibri"/>
              </a:rPr>
              <a:t>Fórmula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746280" y="365652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recording_started_at + segment.start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3384000" y="299268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3384000" y="2992680"/>
            <a:ext cx="2594160" cy="46080"/>
          </a:xfrm>
          <a:prstGeom prst="rect">
            <a:avLst/>
          </a:prstGeom>
          <a:solidFill>
            <a:srgbClr val="43b581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4"/>
          <p:cNvSpPr/>
          <p:nvPr/>
        </p:nvSpPr>
        <p:spPr>
          <a:xfrm>
            <a:off x="3486240" y="307800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UTC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5"/>
          <p:cNvSpPr/>
          <p:nvPr/>
        </p:nvSpPr>
        <p:spPr>
          <a:xfrm>
            <a:off x="3486240" y="341820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Normalização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3486240" y="365652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Todos os participantes usam a mesma referência temporal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6123600" y="299268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6123600" y="2992680"/>
            <a:ext cx="2594160" cy="4608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6225840" y="307800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session_id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6225840" y="341820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b0d7"/>
                </a:solidFill>
                <a:effectLst/>
                <a:uFillTx/>
                <a:latin typeface="Calibri"/>
                <a:ea typeface="Calibri"/>
              </a:rPr>
              <a:t>Contexto da chamada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1"/>
          <p:cNvSpPr/>
          <p:nvPr/>
        </p:nvSpPr>
        <p:spPr>
          <a:xfrm>
            <a:off x="6225840" y="365652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Cada segmento fica ligado à sessão que o originou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644400" y="42861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644400" y="4286160"/>
            <a:ext cx="2594160" cy="4608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746280" y="43711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Ordenação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5"/>
          <p:cNvSpPr/>
          <p:nvPr/>
        </p:nvSpPr>
        <p:spPr>
          <a:xfrm>
            <a:off x="746280" y="47113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7289da"/>
                </a:solidFill>
                <a:effectLst/>
                <a:uFillTx/>
                <a:latin typeface="Calibri"/>
                <a:ea typeface="Calibri"/>
              </a:rPr>
              <a:t>Conversa comum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746280" y="49496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Mensagens intercaladas por timestamp e 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7"/>
          <p:cNvSpPr/>
          <p:nvPr/>
        </p:nvSpPr>
        <p:spPr>
          <a:xfrm>
            <a:off x="3384000" y="42861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8"/>
          <p:cNvSpPr/>
          <p:nvPr/>
        </p:nvSpPr>
        <p:spPr>
          <a:xfrm>
            <a:off x="3384000" y="4286160"/>
            <a:ext cx="2594160" cy="4608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9"/>
          <p:cNvSpPr/>
          <p:nvPr/>
        </p:nvSpPr>
        <p:spPr>
          <a:xfrm>
            <a:off x="3486240" y="43711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Chunks de 30 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3486240" y="47113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b0d7"/>
                </a:solidFill>
                <a:effectLst/>
                <a:uFillTx/>
                <a:latin typeface="Calibri"/>
                <a:ea typeface="Calibri"/>
              </a:rPr>
              <a:t>Contexto por canal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3486240" y="49496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Só as janelas temporais afetadas são reconstruídas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2"/>
          <p:cNvSpPr/>
          <p:nvPr/>
        </p:nvSpPr>
        <p:spPr>
          <a:xfrm>
            <a:off x="6123600" y="4286160"/>
            <a:ext cx="2594160" cy="1173240"/>
          </a:xfrm>
          <a:prstGeom prst="rect">
            <a:avLst/>
          </a:prstGeom>
          <a:solidFill>
            <a:srgbClr val="eef4ff"/>
          </a:solidFill>
          <a:ln w="12700">
            <a:solidFill>
              <a:srgbClr val="4f5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43"/>
          <p:cNvSpPr/>
          <p:nvPr/>
        </p:nvSpPr>
        <p:spPr>
          <a:xfrm>
            <a:off x="6123600" y="4286160"/>
            <a:ext cx="2594160" cy="46080"/>
          </a:xfrm>
          <a:prstGeom prst="rect">
            <a:avLst/>
          </a:prstGeom>
          <a:solidFill>
            <a:srgbClr val="d7e0ec"/>
          </a:solidFill>
          <a:ln w="12700">
            <a:solidFill>
              <a:srgbClr val="4f5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4"/>
          <p:cNvSpPr/>
          <p:nvPr/>
        </p:nvSpPr>
        <p:spPr>
          <a:xfrm>
            <a:off x="6225840" y="4371120"/>
            <a:ext cx="23389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Transcript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45"/>
          <p:cNvSpPr/>
          <p:nvPr/>
        </p:nvSpPr>
        <p:spPr>
          <a:xfrm>
            <a:off x="6225840" y="4711320"/>
            <a:ext cx="2338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4f545c"/>
                </a:solidFill>
                <a:effectLst/>
                <a:uFillTx/>
                <a:latin typeface="Calibri"/>
                <a:ea typeface="Calibri"/>
              </a:rPr>
              <a:t>Resumo da sessão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6"/>
          <p:cNvSpPr/>
          <p:nvPr/>
        </p:nvSpPr>
        <p:spPr>
          <a:xfrm>
            <a:off x="6225840" y="4949640"/>
            <a:ext cx="23389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Usa mensagens da session_id — não os chunks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aixaDeTexto 10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Box 13"/>
          <p:cNvSpPr/>
          <p:nvPr/>
        </p:nvSpPr>
        <p:spPr>
          <a:xfrm>
            <a:off x="306360" y="557280"/>
            <a:ext cx="6980040" cy="398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Atualização da Lore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90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Shape 9"/>
          <p:cNvSpPr/>
          <p:nvPr/>
        </p:nvSpPr>
        <p:spPr>
          <a:xfrm>
            <a:off x="631080" y="1699560"/>
            <a:ext cx="8027280" cy="3827880"/>
          </a:xfrm>
          <a:prstGeom prst="rect">
            <a:avLst/>
          </a:prstGeom>
          <a:solidFill>
            <a:srgbClr val="eef4ff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631080" y="1699560"/>
            <a:ext cx="8027280" cy="4608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825480" y="1758960"/>
            <a:ext cx="76201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aa61a"/>
                </a:solidFill>
                <a:effectLst/>
                <a:uFillTx/>
                <a:latin typeface="Trebuchet MS"/>
                <a:ea typeface="Trebuchet MS"/>
              </a:rPr>
              <a:t> Session Agent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883440" y="2171520"/>
            <a:ext cx="72334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 agente combina o transcript completo, o contexto da sessão e a memória existente: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859320" y="2903400"/>
            <a:ext cx="704880" cy="59472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859320" y="2903400"/>
            <a:ext cx="7048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1718280" y="2903400"/>
            <a:ext cx="65275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Gera o resumo estruturado e pronto para publicar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859320" y="3669120"/>
            <a:ext cx="704880" cy="59472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859320" y="3669120"/>
            <a:ext cx="70488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1718280" y="3669120"/>
            <a:ext cx="65275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Atualiza o perfil e acrescenta uma nova entrada de lore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6446880" y="4447800"/>
            <a:ext cx="22114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Persistência da Memória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0"/>
          <p:cNvSpPr/>
          <p:nvPr/>
        </p:nvSpPr>
        <p:spPr>
          <a:xfrm>
            <a:off x="6446880" y="4745520"/>
            <a:ext cx="22114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◆  PostgreSQL: perfil atual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◆  Markdown: timeline histórica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◆  Texto: periódico ou /sync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CaixaDeTexto 11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Box 13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Funcionalidades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3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CaixaDeTexto 12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omandos Memória e Interação"/>
          <p:cNvSpPr txBox="1"/>
          <p:nvPr/>
        </p:nvSpPr>
        <p:spPr>
          <a:xfrm>
            <a:off x="620000" y="1510000"/>
            <a:ext cx="3980000" cy="41000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289DA"/>
            </a:solidFill>
            <a:round/>
          </a:ln>
        </p:spPr>
        <p:txBody>
          <a:bodyPr wrap="square" lIns="137160" rIns="137160" tIns="105000" bIns="95000" anchor="t"/>
          <a:lstStyle/>
          <a:p>
            <a:pPr marL="0" indent="0">
              <a:lnSpc>
                <a:spcPct val="100000"/>
              </a:lnSpc>
            </a:pPr>
            <a:r>
              <a:rPr lang="pt-PT" sz="1450" b="1">
                <a:solidFill>
                  <a:srgbClr val="7289DA"/>
                </a:solidFill>
                <a:latin typeface="Arial"/>
              </a:rPr>
              <a:t>Memória e Interação</a:t>
            </a:r>
            <a:endParaRPr lang="pt-PT" sz="145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/profile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mostra o perfil antropológico de um utilizador.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/prompt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pergunta ao antropólogo sobre a lore de alguém.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/oracle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responde usando memória, resumos e transcrições.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/recap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mostra o resumo da última sessão de voz.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/guess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mini jogo para adivinhar quem disse uma frase.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7289DA"/>
                </a:solidFill>
                <a:latin typeface="Arial"/>
              </a:rPr>
              <a:t>/forget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apaga mensagens, perfil e ficheiro de lore.</a:t>
            </a:r>
            <a:endParaRPr lang="pt-PT" sz="900">
              <a:solidFill>
                <a:srgbClr val="1F2937"/>
              </a:solidFill>
            </a:endParaRPr>
          </a:p>
        </p:txBody>
      </p:sp>
      <p:sp>
        <p:nvSpPr>
          <p:cNvPr id="336" name="Comandos Operação e Controlo"/>
          <p:cNvSpPr txBox="1"/>
          <p:nvPr/>
        </p:nvSpPr>
        <p:spPr>
          <a:xfrm>
            <a:off x="4820000" y="1510000"/>
            <a:ext cx="3820000" cy="41000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43B581"/>
            </a:solidFill>
            <a:round/>
          </a:ln>
        </p:spPr>
        <p:txBody>
          <a:bodyPr wrap="square" lIns="137160" rIns="137160" tIns="105000" bIns="95000" anchor="t"/>
          <a:lstStyle/>
          <a:p>
            <a:pPr marL="0" indent="0">
              <a:lnSpc>
                <a:spcPct val="100000"/>
              </a:lnSpc>
            </a:pPr>
            <a:r>
              <a:rPr lang="pt-PT" sz="1450" b="1">
                <a:solidFill>
                  <a:srgbClr val="43B581"/>
                </a:solidFill>
                <a:latin typeface="Arial"/>
              </a:rPr>
              <a:t>Operação e Controlo</a:t>
            </a:r>
            <a:endParaRPr lang="pt-PT" sz="145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/models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lista, testa e troca o modelo LLM ativo.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/keys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mostra uso e chave Speechmatics preferida.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/health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verifica API, Postgres, bot e transcrições.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/sync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força sincronização dos perfis com mensagens guardadas.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/start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reativa o bot e volta a entrar em calls ativas.</a:t>
            </a:r>
            <a:endParaRPr lang="pt-PT" sz="900">
              <a:solidFill>
                <a:srgbClr val="1F2937"/>
              </a:solidFill>
            </a:endParaRPr>
          </a:p>
          <a:p>
            <a:pPr marL="0" indent="0">
              <a:lnSpc>
                <a:spcPct val="94000"/>
              </a:lnSpc>
              <a:spcBef>
                <a:spcPts val="360"/>
              </a:spcBef>
            </a:pPr>
            <a:r>
              <a:rPr lang="pt-PT" sz="900">
                <a:solidFill>
                  <a:srgbClr val="1F2937"/>
                </a:solidFill>
                <a:latin typeface="Arial"/>
              </a:rPr>
              <a:t>• </a:t>
            </a:r>
            <a:r>
              <a:rPr lang="pt-PT" sz="900" b="1">
                <a:solidFill>
                  <a:srgbClr val="43B581"/>
                </a:solidFill>
                <a:latin typeface="Arial"/>
              </a:rPr>
              <a:t>/stop</a:t>
            </a:r>
            <a:r>
              <a:rPr lang="pt-PT" sz="900">
                <a:solidFill>
                  <a:srgbClr val="1F2937"/>
                </a:solidFill>
                <a:latin typeface="Arial"/>
              </a:rPr>
              <a:t> -&gt; pausa o bot, sai das calls e bloqueia novas entradas.</a:t>
            </a:r>
            <a:endParaRPr lang="pt-PT" sz="900">
              <a:solidFill>
                <a:srgbClr val="1F2937"/>
              </a:solidFill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Box 13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Whisper → Speechmatics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2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Shape 2"/>
          <p:cNvSpPr/>
          <p:nvPr/>
        </p:nvSpPr>
        <p:spPr>
          <a:xfrm>
            <a:off x="661320" y="1648440"/>
            <a:ext cx="3742920" cy="407520"/>
          </a:xfrm>
          <a:prstGeom prst="rect">
            <a:avLst/>
          </a:prstGeom>
          <a:solidFill>
            <a:srgbClr val="7289da">
              <a:alpha val="40000"/>
            </a:srgbClr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661320" y="1648440"/>
            <a:ext cx="37429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</a:rPr>
              <a:t>Whisper — abordagem inicial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"/>
          <p:cNvSpPr/>
          <p:nvPr/>
        </p:nvSpPr>
        <p:spPr>
          <a:xfrm>
            <a:off x="4915440" y="1648440"/>
            <a:ext cx="3742920" cy="407520"/>
          </a:xfrm>
          <a:prstGeom prst="rect">
            <a:avLst/>
          </a:prstGeom>
          <a:solidFill>
            <a:srgbClr val="43b581">
              <a:alpha val="40000"/>
            </a:srgbClr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"/>
          <p:cNvSpPr/>
          <p:nvPr/>
        </p:nvSpPr>
        <p:spPr>
          <a:xfrm>
            <a:off x="4915440" y="1648440"/>
            <a:ext cx="37429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</a:rPr>
              <a:t>Speechmatics — evolução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"/>
          <p:cNvSpPr/>
          <p:nvPr/>
        </p:nvSpPr>
        <p:spPr>
          <a:xfrm>
            <a:off x="661320" y="216756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7"/>
          <p:cNvSpPr/>
          <p:nvPr/>
        </p:nvSpPr>
        <p:spPr>
          <a:xfrm>
            <a:off x="789120" y="21675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Execução local no homelab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>
            <a:off x="4915440" y="216756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9"/>
          <p:cNvSpPr/>
          <p:nvPr/>
        </p:nvSpPr>
        <p:spPr>
          <a:xfrm>
            <a:off x="5043240" y="21675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Processamento através da Batch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0"/>
          <p:cNvSpPr/>
          <p:nvPr/>
        </p:nvSpPr>
        <p:spPr>
          <a:xfrm>
            <a:off x="4404600" y="235440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661320" y="256716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2"/>
          <p:cNvSpPr/>
          <p:nvPr/>
        </p:nvSpPr>
        <p:spPr>
          <a:xfrm>
            <a:off x="789120" y="25671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Modelo large-v3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3"/>
          <p:cNvSpPr/>
          <p:nvPr/>
        </p:nvSpPr>
        <p:spPr>
          <a:xfrm>
            <a:off x="4915440" y="256716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4"/>
          <p:cNvSpPr/>
          <p:nvPr/>
        </p:nvSpPr>
        <p:spPr>
          <a:xfrm>
            <a:off x="5043240" y="25671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Melia 1 multilingue PT / 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4404600" y="275436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6"/>
          <p:cNvSpPr/>
          <p:nvPr/>
        </p:nvSpPr>
        <p:spPr>
          <a:xfrm>
            <a:off x="661320" y="296712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7"/>
          <p:cNvSpPr/>
          <p:nvPr/>
        </p:nvSpPr>
        <p:spPr>
          <a:xfrm>
            <a:off x="789120" y="296712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Carga elevada em CPU / GPU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8"/>
          <p:cNvSpPr/>
          <p:nvPr/>
        </p:nvSpPr>
        <p:spPr>
          <a:xfrm>
            <a:off x="4915440" y="296712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9"/>
          <p:cNvSpPr/>
          <p:nvPr/>
        </p:nvSpPr>
        <p:spPr>
          <a:xfrm>
            <a:off x="5043240" y="296712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Menor carga computacional local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0"/>
          <p:cNvSpPr/>
          <p:nvPr/>
        </p:nvSpPr>
        <p:spPr>
          <a:xfrm>
            <a:off x="4404600" y="315432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6"/>
          <p:cNvSpPr/>
          <p:nvPr/>
        </p:nvSpPr>
        <p:spPr>
          <a:xfrm>
            <a:off x="661320" y="337428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7"/>
          <p:cNvSpPr/>
          <p:nvPr/>
        </p:nvSpPr>
        <p:spPr>
          <a:xfrm>
            <a:off x="789120" y="337428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Alucinações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8"/>
          <p:cNvSpPr/>
          <p:nvPr/>
        </p:nvSpPr>
        <p:spPr>
          <a:xfrm>
            <a:off x="4915440" y="337428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9"/>
          <p:cNvSpPr/>
          <p:nvPr/>
        </p:nvSpPr>
        <p:spPr>
          <a:xfrm>
            <a:off x="5043240" y="337428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Melhor interpretação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0"/>
          <p:cNvSpPr/>
          <p:nvPr/>
        </p:nvSpPr>
        <p:spPr>
          <a:xfrm>
            <a:off x="4404600" y="356148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31"/>
          <p:cNvSpPr/>
          <p:nvPr/>
        </p:nvSpPr>
        <p:spPr>
          <a:xfrm>
            <a:off x="661320" y="377424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2"/>
          <p:cNvSpPr/>
          <p:nvPr/>
        </p:nvSpPr>
        <p:spPr>
          <a:xfrm>
            <a:off x="789120" y="377424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Dificuldade em perceber mudança de idioma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3"/>
          <p:cNvSpPr/>
          <p:nvPr/>
        </p:nvSpPr>
        <p:spPr>
          <a:xfrm>
            <a:off x="4915440" y="377424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4"/>
          <p:cNvSpPr/>
          <p:nvPr/>
        </p:nvSpPr>
        <p:spPr>
          <a:xfrm>
            <a:off x="5043240" y="377424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Alternância natural entre idiomas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5"/>
          <p:cNvSpPr/>
          <p:nvPr/>
        </p:nvSpPr>
        <p:spPr>
          <a:xfrm>
            <a:off x="4404600" y="396144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6"/>
          <p:cNvSpPr/>
          <p:nvPr/>
        </p:nvSpPr>
        <p:spPr>
          <a:xfrm>
            <a:off x="661320" y="417420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7"/>
          <p:cNvSpPr/>
          <p:nvPr/>
        </p:nvSpPr>
        <p:spPr>
          <a:xfrm>
            <a:off x="789120" y="417420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Sem custo por minuto de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8"/>
          <p:cNvSpPr/>
          <p:nvPr/>
        </p:nvSpPr>
        <p:spPr>
          <a:xfrm>
            <a:off x="4915440" y="4174200"/>
            <a:ext cx="3742920" cy="37368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9"/>
          <p:cNvSpPr/>
          <p:nvPr/>
        </p:nvSpPr>
        <p:spPr>
          <a:xfrm>
            <a:off x="5043240" y="417420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Multi-key rotation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0"/>
          <p:cNvSpPr/>
          <p:nvPr/>
        </p:nvSpPr>
        <p:spPr>
          <a:xfrm>
            <a:off x="4404600" y="436104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1"/>
          <p:cNvSpPr/>
          <p:nvPr/>
        </p:nvSpPr>
        <p:spPr>
          <a:xfrm>
            <a:off x="661320" y="457416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2"/>
          <p:cNvSpPr/>
          <p:nvPr/>
        </p:nvSpPr>
        <p:spPr>
          <a:xfrm>
            <a:off x="789120" y="45741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Mantido como alternativa local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3"/>
          <p:cNvSpPr/>
          <p:nvPr/>
        </p:nvSpPr>
        <p:spPr>
          <a:xfrm>
            <a:off x="4915440" y="4574160"/>
            <a:ext cx="3742920" cy="373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4"/>
          <p:cNvSpPr/>
          <p:nvPr/>
        </p:nvSpPr>
        <p:spPr>
          <a:xfrm>
            <a:off x="5043240" y="4574160"/>
            <a:ext cx="34876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Adicionado sem alterar o Discord Bot (Provider no .env)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45"/>
          <p:cNvSpPr/>
          <p:nvPr/>
        </p:nvSpPr>
        <p:spPr>
          <a:xfrm>
            <a:off x="4404600" y="476100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CaixaDeTexto 13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Box 13"/>
          <p:cNvSpPr/>
          <p:nvPr/>
        </p:nvSpPr>
        <p:spPr>
          <a:xfrm>
            <a:off x="306360" y="557280"/>
            <a:ext cx="6980040" cy="398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Conclusão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 Box 21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Rectângulo 19"/>
          <p:cNvSpPr/>
          <p:nvPr/>
        </p:nvSpPr>
        <p:spPr>
          <a:xfrm>
            <a:off x="5535720" y="610200"/>
            <a:ext cx="35035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Box 10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2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Subtítulo 2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CaixaDeTexto 14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Conclusao Summary"/>
          <p:cNvSpPr txBox="1"/>
          <p:nvPr/>
        </p:nvSpPr>
        <p:spPr>
          <a:xfrm>
            <a:off x="700000" y="1500000"/>
            <a:ext cx="7920000" cy="41000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txBody>
          <a:bodyPr wrap="square" lIns="170000" rIns="170000" tIns="105000" bIns="95000" anchor="t"/>
          <a:lstStyle/>
          <a:p>
            <a:pPr marL="0" indent="0">
              <a:lnSpc>
                <a:spcPct val="100000"/>
              </a:lnSpc>
            </a:pPr>
            <a:r>
              <a:rPr lang="pt-PT" sz="1700" b="1">
                <a:solidFill>
                  <a:srgbClr val="C00000"/>
                </a:solidFill>
                <a:latin typeface="Arial"/>
              </a:rPr>
              <a:t>Summary</a:t>
            </a:r>
            <a:endParaRPr lang="pt-PT" sz="1700">
              <a:solidFill>
                <a:srgbClr val="1F293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520"/>
              </a:spcBef>
            </a:pPr>
            <a:r>
              <a:rPr lang="pt-PT" sz="1150">
                <a:solidFill>
                  <a:srgbClr val="1F2937"/>
                </a:solidFill>
                <a:latin typeface="Arial"/>
              </a:rPr>
              <a:t>A solução final deixa de ser apenas um sistema de transcrição: passa a ser uma memória viva do Discord, capaz de organizar conversas, resumir sessões e tornar a informação pesquisável e interativa.</a:t>
            </a:r>
            <a:endParaRPr lang="pt-PT" sz="1150">
              <a:solidFill>
                <a:srgbClr val="1F2937"/>
              </a:solidFill>
            </a:endParaRPr>
          </a:p>
          <a:p>
            <a:pPr marL="0" indent="0">
              <a:lnSpc>
                <a:spcPct val="98000"/>
              </a:lnSpc>
              <a:spcBef>
                <a:spcPts val="420"/>
              </a:spcBef>
            </a:pPr>
            <a:r>
              <a:rPr lang="pt-PT" sz="1050" b="1">
                <a:solidFill>
                  <a:srgbClr val="43B581"/>
                </a:solidFill>
                <a:latin typeface="Arial"/>
              </a:rPr>
              <a:t>• </a:t>
            </a:r>
            <a:r>
              <a:rPr lang="pt-PT" sz="1050">
                <a:solidFill>
                  <a:srgbClr val="1F2937"/>
                </a:solidFill>
                <a:latin typeface="Arial"/>
              </a:rPr>
              <a:t>O Discord Anthropologist transforma voz e mensagens em memória consultável do servidor.</a:t>
            </a:r>
            <a:endParaRPr lang="pt-PT" sz="1050">
              <a:solidFill>
                <a:srgbClr val="1F2937"/>
              </a:solidFill>
            </a:endParaRPr>
          </a:p>
          <a:p>
            <a:pPr marL="0" indent="0">
              <a:lnSpc>
                <a:spcPct val="98000"/>
              </a:lnSpc>
              <a:spcBef>
                <a:spcPts val="420"/>
              </a:spcBef>
            </a:pPr>
            <a:r>
              <a:rPr lang="pt-PT" sz="1050" b="1">
                <a:solidFill>
                  <a:srgbClr val="43B581"/>
                </a:solidFill>
                <a:latin typeface="Arial"/>
              </a:rPr>
              <a:t>• </a:t>
            </a:r>
            <a:r>
              <a:rPr lang="pt-PT" sz="1050">
                <a:solidFill>
                  <a:srgbClr val="1F2937"/>
                </a:solidFill>
                <a:latin typeface="Arial"/>
              </a:rPr>
              <a:t>A pipeline separa áudio por participante, reconstrui a conversa por timestamps e gera transcrições.</a:t>
            </a:r>
            <a:endParaRPr lang="pt-PT" sz="1050">
              <a:solidFill>
                <a:srgbClr val="1F2937"/>
              </a:solidFill>
            </a:endParaRPr>
          </a:p>
          <a:p>
            <a:pPr marL="0" indent="0">
              <a:lnSpc>
                <a:spcPct val="98000"/>
              </a:lnSpc>
              <a:spcBef>
                <a:spcPts val="420"/>
              </a:spcBef>
            </a:pPr>
            <a:r>
              <a:rPr lang="pt-PT" sz="1050" b="1">
                <a:solidFill>
                  <a:srgbClr val="43B581"/>
                </a:solidFill>
                <a:latin typeface="Arial"/>
              </a:rPr>
              <a:t>• </a:t>
            </a:r>
            <a:r>
              <a:rPr lang="pt-PT" sz="1050">
                <a:solidFill>
                  <a:srgbClr val="1F2937"/>
                </a:solidFill>
                <a:latin typeface="Arial"/>
              </a:rPr>
              <a:t>O agent workflow cria resumos de sessões, atualiza perfis e alimenta a lore individual/coletiva.</a:t>
            </a:r>
            <a:endParaRPr lang="pt-PT" sz="1050">
              <a:solidFill>
                <a:srgbClr val="1F2937"/>
              </a:solidFill>
            </a:endParaRPr>
          </a:p>
          <a:p>
            <a:pPr marL="0" indent="0">
              <a:lnSpc>
                <a:spcPct val="98000"/>
              </a:lnSpc>
              <a:spcBef>
                <a:spcPts val="420"/>
              </a:spcBef>
            </a:pPr>
            <a:r>
              <a:rPr lang="pt-PT" sz="1050" b="1">
                <a:solidFill>
                  <a:srgbClr val="43B581"/>
                </a:solidFill>
                <a:latin typeface="Arial"/>
              </a:rPr>
              <a:t>• </a:t>
            </a:r>
            <a:r>
              <a:rPr lang="pt-PT" sz="1050">
                <a:solidFill>
                  <a:srgbClr val="1F2937"/>
                </a:solidFill>
                <a:latin typeface="Arial"/>
              </a:rPr>
              <a:t>Os comandos permitem consultar memória, rever sessões, jogar, diagnosticar e controlar o bot.</a:t>
            </a:r>
            <a:endParaRPr lang="pt-PT" sz="1050">
              <a:solidFill>
                <a:srgbClr val="1F2937"/>
              </a:solidFill>
            </a:endParaRPr>
          </a:p>
          <a:p>
            <a:pPr marL="0" indent="0">
              <a:lnSpc>
                <a:spcPct val="98000"/>
              </a:lnSpc>
              <a:spcBef>
                <a:spcPts val="420"/>
              </a:spcBef>
            </a:pPr>
            <a:r>
              <a:rPr lang="pt-PT" sz="1050" b="1">
                <a:solidFill>
                  <a:srgbClr val="43B581"/>
                </a:solidFill>
                <a:latin typeface="Arial"/>
              </a:rPr>
              <a:t>• </a:t>
            </a:r>
            <a:r>
              <a:rPr lang="pt-PT" sz="1050">
                <a:solidFill>
                  <a:srgbClr val="1F2937"/>
                </a:solidFill>
                <a:latin typeface="Arial"/>
              </a:rPr>
              <a:t>A evolução para Speechmatics melhorou a fiabilidade, o multilinguismo e a qualidade das transcrições.</a:t>
            </a:r>
            <a:endParaRPr lang="pt-PT" sz="1050">
              <a:solidFill>
                <a:srgbClr val="1F2937"/>
              </a:solidFill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Box 8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Bibliografia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Line 3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 Box 9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m 10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Rectângulo 3"/>
          <p:cNvSpPr/>
          <p:nvPr/>
        </p:nvSpPr>
        <p:spPr>
          <a:xfrm>
            <a:off x="5535720" y="610200"/>
            <a:ext cx="350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m 11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Box 11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1" name="Imagem 12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Subtítulo 4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m 13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Box 12"/>
          <p:cNvSpPr/>
          <p:nvPr/>
        </p:nvSpPr>
        <p:spPr>
          <a:xfrm>
            <a:off x="406080" y="1203120"/>
            <a:ext cx="8507520" cy="24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Discord Developer Documentation — https://discord.com/developers/docs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Docker Documentation — https://docs.docker.com/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FastAPI Documentation — https://fastapi.tiangolo.com/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PostgreSQL Documentation — https://www.postgresql.org/docs/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OpenAI Whisper — https://github.com/openai/whisper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Speechmatics Documentation — https://docs.speechmatics.com/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CaixaDeTexto 15"/>
          <p:cNvSpPr/>
          <p:nvPr/>
        </p:nvSpPr>
        <p:spPr>
          <a:xfrm>
            <a:off x="720108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Imagem 21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PlaceHolder 1"/>
          <p:cNvSpPr>
            <a:spLocks noGrp="1"/>
          </p:cNvSpPr>
          <p:nvPr>
            <p:ph type="subTitle"/>
          </p:nvPr>
        </p:nvSpPr>
        <p:spPr>
          <a:xfrm>
            <a:off x="2000160" y="5867280"/>
            <a:ext cx="5142240" cy="48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ctr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lang="pt-PT" sz="15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www.ipvc.pt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Imagem 22"/>
          <p:cNvPicPr/>
          <p:nvPr/>
        </p:nvPicPr>
        <p:blipFill>
          <a:blip r:embed="rId2"/>
          <a:stretch/>
        </p:blipFill>
        <p:spPr>
          <a:xfrm>
            <a:off x="2547720" y="3409920"/>
            <a:ext cx="4047480" cy="10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Application>LibreOffice/25.8.7.3$Linux_X86_64 LibreOffice_project/580$Build-3</Application>
  <AppVersion>15.0000</AppVersion>
  <Words>1336</Words>
  <Paragraphs>185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2011-05-31T09:21:51Z</dcterms:created>
  <dc:creator>Jorge Ribeiro</dc:creator>
  <dc:description/>
  <dc:language>en-US</dc:language>
  <cp:lastModifiedBy/>
  <cp:lastPrinted>2021-02-22T18:49:33Z</cp:lastPrinted>
  <dcterms:modified xsi:type="dcterms:W3CDTF">2026-07-09T15:05:39Z</dcterms:modified>
  <cp:revision>279</cp:revision>
  <dc:subject/>
  <dc:title>Diapositivo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Apresentação no Ecrã (4:3)</vt:lpwstr>
  </property>
  <property fmtid="{D5CDD505-2E9C-101B-9397-08002B2CF9AE}" pid="4" name="Slides">
    <vt:i4>25</vt:i4>
  </property>
</Properties>
</file>